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65" r:id="rId5"/>
    <p:sldId id="266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97647-C76B-458B-B50D-CD21B7E4A235}" v="18" dt="2026-09-18T14:16:40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38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3C40-3235-6228-D930-2D590478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60F92-A5F0-EC5B-D55C-EA166EA8B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6CF60-BFE0-BE84-D08E-59EC800A7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1C586-DB36-F647-94FE-046C39724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1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DE37-8F9C-E5AB-ACC5-D6DC0D6F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87B03-29A0-1EA9-F15F-E08CBC00A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8AA65-7F52-5F0B-9614-1C8BFBF6A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E8ED0-B58F-2375-C457-3C9020C7A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0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26CF-1232-2453-FA9F-969D32C3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2B924-F128-78F4-E3B7-0665DEACF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AB055-E15F-6301-88CD-831EDBDB7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B02E9-EC9E-94AF-80A0-3944A4239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0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0A5C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011680"/>
            <a:ext cx="2743200" cy="2743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medassist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40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MEDICAL ASSISTANT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7465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i="1" dirty="0">
              <a:solidFill>
                <a:srgbClr val="4FD1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i="1" dirty="0">
                <a:solidFill>
                  <a:srgbClr val="00B050"/>
                </a:solidFill>
              </a:rPr>
              <a:t>A multimodal AI medical assistant that accepts text, speech, and medical images, uses RAG and LLMs to generate context-aware responses, and provides answers in both text and speech.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1613647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251960"/>
            <a:ext cx="1613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65207" y="4251960"/>
            <a:ext cx="2086984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65207" y="4251960"/>
            <a:ext cx="2086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Voice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80791" y="4251960"/>
            <a:ext cx="1968649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0791" y="4251960"/>
            <a:ext cx="1968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Audio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Smrithi Pillai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285DAE-AA0D-AFDE-9899-C88435F18FE2}"/>
              </a:ext>
            </a:extLst>
          </p:cNvPr>
          <p:cNvSpPr txBox="1"/>
          <p:nvPr/>
        </p:nvSpPr>
        <p:spPr>
          <a:xfrm>
            <a:off x="1843430" y="1065162"/>
            <a:ext cx="6902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Project Presentation </a:t>
            </a:r>
            <a:endParaRPr lang="en-US" sz="16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6910" y="1681484"/>
            <a:ext cx="4930658" cy="4243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i="1" dirty="0"/>
              <a:t>Access to understandable and reliable medical information can be challenging, especially when users have difficulty interpreting complex medical terminology or communicating their concerns through text alone. </a:t>
            </a:r>
          </a:p>
          <a:p>
            <a:endParaRPr lang="en-IN" sz="1400" i="1" dirty="0"/>
          </a:p>
          <a:p>
            <a:r>
              <a:rPr lang="en-IN" sz="1400" i="1" dirty="0"/>
              <a:t>Traditional healthcare support may also be less accessible to people who prefer </a:t>
            </a:r>
            <a:r>
              <a:rPr lang="en-IN" sz="1400" b="1" i="1" dirty="0"/>
              <a:t>voice-based interaction</a:t>
            </a:r>
            <a:r>
              <a:rPr lang="en-IN" sz="1400" i="1" dirty="0"/>
              <a:t> or need assistance understanding information from </a:t>
            </a:r>
            <a:r>
              <a:rPr lang="en-IN" sz="1400" b="1" i="1" dirty="0"/>
              <a:t>medical images</a:t>
            </a:r>
            <a:r>
              <a:rPr lang="en-IN" sz="1400" i="1" dirty="0"/>
              <a:t>.</a:t>
            </a:r>
          </a:p>
          <a:p>
            <a:endParaRPr lang="en-IN" sz="1400" i="1" dirty="0"/>
          </a:p>
          <a:p>
            <a:r>
              <a:rPr lang="en-IN" sz="1400" i="1" dirty="0"/>
              <a:t>The </a:t>
            </a:r>
            <a:r>
              <a:rPr lang="en-IN" sz="1400" b="1" i="1" dirty="0"/>
              <a:t>Multimodal Medical Assistant</a:t>
            </a:r>
            <a:r>
              <a:rPr lang="en-IN" sz="1400" i="1" dirty="0"/>
              <a:t> addresses this problem by providing a single AI-powered platform where users can </a:t>
            </a:r>
            <a:r>
              <a:rPr lang="en-IN" sz="1400" b="1" i="1" dirty="0"/>
              <a:t>type or speak their medical queries and upload medical images</a:t>
            </a:r>
            <a:r>
              <a:rPr lang="en-IN" sz="1400" i="1" dirty="0"/>
              <a:t>. The system combines </a:t>
            </a:r>
            <a:r>
              <a:rPr lang="en-IN" sz="1400" b="1" i="1" dirty="0"/>
              <a:t>speech processing, multimodal AI, RAG, and LLMs</a:t>
            </a:r>
            <a:r>
              <a:rPr lang="en-IN" sz="1400" i="1" dirty="0"/>
              <a:t> to retrieve relevant information and generate understandable responses in </a:t>
            </a:r>
            <a:r>
              <a:rPr lang="en-IN" sz="1400" b="1" i="1" dirty="0"/>
              <a:t>text and speech</a:t>
            </a:r>
            <a:r>
              <a:rPr lang="en-IN" sz="1400" i="1" dirty="0"/>
              <a:t>.</a:t>
            </a:r>
          </a:p>
          <a:p>
            <a:endParaRPr lang="en-IN" sz="1400" dirty="0"/>
          </a:p>
          <a:p>
            <a:r>
              <a:rPr lang="en-IN" sz="1400" i="1" dirty="0"/>
              <a:t>The system is designed as an </a:t>
            </a:r>
            <a:r>
              <a:rPr lang="en-IN" sz="1400" b="1" i="1" dirty="0"/>
              <a:t>informational support tool</a:t>
            </a:r>
            <a:r>
              <a:rPr lang="en-IN" sz="1400" i="1" dirty="0"/>
              <a:t>, not a replacement for professional medical diagnosis or treatment.</a:t>
            </a:r>
          </a:p>
        </p:txBody>
      </p:sp>
      <p:sp>
        <p:nvSpPr>
          <p:cNvPr id="17" name="Text 14"/>
          <p:cNvSpPr txBox="1"/>
          <p:nvPr/>
        </p:nvSpPr>
        <p:spPr>
          <a:xfrm>
            <a:off x="129844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132A46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1874520"/>
            <a:ext cx="640080" cy="640080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3" name="Image 1" descr="/home/claude/medassist/icons/im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59" y="2028139"/>
            <a:ext cx="332842" cy="33284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866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i="1" dirty="0">
                <a:solidFill>
                  <a:schemeClr val="bg1"/>
                </a:solidFill>
              </a:rPr>
              <a:t>UN SDG Alignment</a:t>
            </a: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70866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69340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i="1" dirty="0">
                <a:solidFill>
                  <a:schemeClr val="bg1"/>
                </a:solidFill>
              </a:rPr>
              <a:t>SDG 3 – Good Health &amp; Well-Being:</a:t>
            </a:r>
            <a:r>
              <a:rPr lang="en-IN" sz="1400" i="1" dirty="0">
                <a:solidFill>
                  <a:schemeClr val="bg1"/>
                </a:solidFill>
              </a:rPr>
              <a:t> Improves access to understandable medical information through </a:t>
            </a:r>
            <a:r>
              <a:rPr lang="en-IN" sz="1400" b="1" i="1" dirty="0">
                <a:solidFill>
                  <a:schemeClr val="bg1"/>
                </a:solidFill>
              </a:rPr>
              <a:t>text, speech, and image-based AI assistance</a:t>
            </a:r>
            <a:r>
              <a:rPr lang="en-IN" sz="1400" i="1" dirty="0">
                <a:solidFill>
                  <a:schemeClr val="bg1"/>
                </a:solidFill>
              </a:rPr>
              <a:t>.</a:t>
            </a:r>
            <a:endParaRPr lang="en-US" sz="1250" i="1" dirty="0">
              <a:solidFill>
                <a:schemeClr val="bg1"/>
              </a:solidFill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6693408" y="3549701"/>
            <a:ext cx="4206240" cy="1066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i="1" dirty="0">
                <a:solidFill>
                  <a:schemeClr val="bg1"/>
                </a:solidFill>
              </a:rPr>
              <a:t>SDG 10 – Reduced Inequalities:</a:t>
            </a:r>
            <a:r>
              <a:rPr lang="en-IN" sz="1400" i="1" dirty="0">
                <a:solidFill>
                  <a:schemeClr val="bg1"/>
                </a:solidFill>
              </a:rPr>
              <a:t> Makes health information more accessible through </a:t>
            </a:r>
            <a:r>
              <a:rPr lang="en-IN" sz="1400" b="1" i="1" dirty="0">
                <a:solidFill>
                  <a:schemeClr val="bg1"/>
                </a:solidFill>
              </a:rPr>
              <a:t>multimodal and voice-based interaction</a:t>
            </a:r>
            <a:r>
              <a:rPr lang="en-IN" sz="1400" i="1" dirty="0">
                <a:solidFill>
                  <a:schemeClr val="bg1"/>
                </a:solidFill>
              </a:rPr>
              <a:t>.</a:t>
            </a:r>
            <a:endParaRPr lang="en-US" sz="1250" i="1" dirty="0">
              <a:solidFill>
                <a:schemeClr val="bg1"/>
              </a:solidFill>
            </a:endParaRPr>
          </a:p>
        </p:txBody>
      </p:sp>
      <p:sp>
        <p:nvSpPr>
          <p:cNvPr id="34" name="Text 30"/>
          <p:cNvSpPr txBox="1"/>
          <p:nvPr/>
        </p:nvSpPr>
        <p:spPr>
          <a:xfrm>
            <a:off x="6693408" y="47091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i="1" dirty="0">
                <a:solidFill>
                  <a:schemeClr val="bg1"/>
                </a:solidFill>
              </a:rPr>
              <a:t>SDG 9 – Industry, Innovation &amp; Infrastructure: Applies LLMs, RAG, multimodal AI, and speech technology to healthcare.</a:t>
            </a:r>
            <a:endParaRPr lang="en-US" sz="1250" b="1" i="1" dirty="0">
              <a:solidFill>
                <a:schemeClr val="bg1"/>
              </a:solidFill>
            </a:endParaRPr>
          </a:p>
        </p:txBody>
      </p:sp>
      <p:sp>
        <p:nvSpPr>
          <p:cNvPr id="38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0059-9E2A-6DD4-866E-86ACED34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6D7487-4675-C6EC-FA1C-C49D6CA6C71D}"/>
              </a:ext>
            </a:extLst>
          </p:cNvPr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Workflows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199095-7287-58F7-62F5-3A88CBBE9065}"/>
              </a:ext>
            </a:extLst>
          </p:cNvPr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complementary ways to interact with the assistant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14DFEC-0205-E533-795C-6C7E1DC29BBC}"/>
              </a:ext>
            </a:extLst>
          </p:cNvPr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A11AC5-151B-DAC3-EE3D-33BA668248A4}"/>
              </a:ext>
            </a:extLst>
          </p:cNvPr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book_white.png">
            <a:extLst>
              <a:ext uri="{FF2B5EF4-FFF2-40B4-BE49-F238E27FC236}">
                <a16:creationId xmlns:a16="http://schemas.microsoft.com/office/drawing/2014/main" id="{96FCAB47-08CC-E6CE-BC33-A4B8F69C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F02F1808-9A8D-0415-2C0F-211231802976}"/>
              </a:ext>
            </a:extLst>
          </p:cNvPr>
          <p:cNvSpPr txBox="1"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Medical Chat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BB8380F-B71E-14BF-0771-24A54F578968}"/>
              </a:ext>
            </a:extLst>
          </p:cNvPr>
          <p:cNvSpPr txBox="1"/>
          <p:nvPr/>
        </p:nvSpPr>
        <p:spPr>
          <a:xfrm>
            <a:off x="169164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retrieval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86BA87E-831A-B2D4-8FA6-474151F130D9}"/>
              </a:ext>
            </a:extLst>
          </p:cNvPr>
          <p:cNvSpPr/>
          <p:nvPr/>
        </p:nvSpPr>
        <p:spPr>
          <a:xfrm>
            <a:off x="868680" y="278892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B8B4B81-10F7-CCF6-8A51-DDDF6FFE680B}"/>
              </a:ext>
            </a:extLst>
          </p:cNvPr>
          <p:cNvSpPr txBox="1"/>
          <p:nvPr/>
        </p:nvSpPr>
        <p:spPr>
          <a:xfrm>
            <a:off x="8686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1F53D90-A819-D958-DFBF-1CBDAAA13F6E}"/>
              </a:ext>
            </a:extLst>
          </p:cNvPr>
          <p:cNvSpPr txBox="1"/>
          <p:nvPr/>
        </p:nvSpPr>
        <p:spPr>
          <a:xfrm>
            <a:off x="129844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medical question (e.g. "What is jaundice?")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0CCB95D-24C5-89A5-2EA9-BA076CAC4533}"/>
              </a:ext>
            </a:extLst>
          </p:cNvPr>
          <p:cNvSpPr/>
          <p:nvPr/>
        </p:nvSpPr>
        <p:spPr>
          <a:xfrm>
            <a:off x="868680" y="356616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8A709DC-F5D6-E389-CCA6-71CB49811FC8}"/>
              </a:ext>
            </a:extLst>
          </p:cNvPr>
          <p:cNvSpPr txBox="1"/>
          <p:nvPr/>
        </p:nvSpPr>
        <p:spPr>
          <a:xfrm>
            <a:off x="8686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D2234D8-5D83-7175-8ACF-D3656F681A89}"/>
              </a:ext>
            </a:extLst>
          </p:cNvPr>
          <p:cNvSpPr txBox="1"/>
          <p:nvPr/>
        </p:nvSpPr>
        <p:spPr>
          <a:xfrm>
            <a:off x="129844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embedded via Sentence Transformers</a:t>
            </a:r>
            <a:endParaRPr lang="en-US" sz="12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55BE063-D246-698B-DC28-04CA5F913AB5}"/>
              </a:ext>
            </a:extLst>
          </p:cNvPr>
          <p:cNvSpPr/>
          <p:nvPr/>
        </p:nvSpPr>
        <p:spPr>
          <a:xfrm>
            <a:off x="868680" y="434340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734F42-BA6E-B13D-1089-2023470B87D3}"/>
              </a:ext>
            </a:extLst>
          </p:cNvPr>
          <p:cNvSpPr txBox="1"/>
          <p:nvPr/>
        </p:nvSpPr>
        <p:spPr>
          <a:xfrm>
            <a:off x="8686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2D2B75-45FA-1C22-5EA7-4E635E0CA7E1}"/>
              </a:ext>
            </a:extLst>
          </p:cNvPr>
          <p:cNvSpPr txBox="1"/>
          <p:nvPr/>
        </p:nvSpPr>
        <p:spPr>
          <a:xfrm>
            <a:off x="129844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 finds top-k relevant documents</a:t>
            </a:r>
            <a:endParaRPr lang="en-US" sz="12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F553AF2-FF52-C98B-40B0-E51D4F216850}"/>
              </a:ext>
            </a:extLst>
          </p:cNvPr>
          <p:cNvSpPr/>
          <p:nvPr/>
        </p:nvSpPr>
        <p:spPr>
          <a:xfrm>
            <a:off x="868680" y="512064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B895193-BFFF-1356-504A-163122C68E94}"/>
              </a:ext>
            </a:extLst>
          </p:cNvPr>
          <p:cNvSpPr txBox="1"/>
          <p:nvPr/>
        </p:nvSpPr>
        <p:spPr>
          <a:xfrm>
            <a:off x="86868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616E41D-F7C7-D44F-144C-6FDA544D6198}"/>
              </a:ext>
            </a:extLst>
          </p:cNvPr>
          <p:cNvSpPr txBox="1"/>
          <p:nvPr/>
        </p:nvSpPr>
        <p:spPr>
          <a:xfrm>
            <a:off x="129844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grounded, sourced answer</a:t>
            </a:r>
            <a:endParaRPr lang="en-US" sz="12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61A9014-EA31-0520-C957-93BAC2FC9E05}"/>
              </a:ext>
            </a:extLst>
          </p:cNvPr>
          <p:cNvSpPr/>
          <p:nvPr/>
        </p:nvSpPr>
        <p:spPr>
          <a:xfrm>
            <a:off x="594360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132A46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75511A4-1CFC-A107-3D21-A235A9559509}"/>
              </a:ext>
            </a:extLst>
          </p:cNvPr>
          <p:cNvSpPr/>
          <p:nvPr/>
        </p:nvSpPr>
        <p:spPr>
          <a:xfrm>
            <a:off x="6263640" y="1874520"/>
            <a:ext cx="640080" cy="640080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3" name="Image 1" descr="/home/claude/medassist/icons/image_white.png">
            <a:extLst>
              <a:ext uri="{FF2B5EF4-FFF2-40B4-BE49-F238E27FC236}">
                <a16:creationId xmlns:a16="http://schemas.microsoft.com/office/drawing/2014/main" id="{B08DAB5F-C0BD-3CA7-7BA7-8A1879792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9" y="2028139"/>
            <a:ext cx="332842" cy="332842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1BBE6C27-11B3-0101-8409-D76CB3700DDD}"/>
              </a:ext>
            </a:extLst>
          </p:cNvPr>
          <p:cNvSpPr txBox="1"/>
          <p:nvPr/>
        </p:nvSpPr>
        <p:spPr>
          <a:xfrm>
            <a:off x="70866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18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6BFCBAC7-C06D-CBFD-08AF-5143AD918A6C}"/>
              </a:ext>
            </a:extLst>
          </p:cNvPr>
          <p:cNvSpPr txBox="1"/>
          <p:nvPr/>
        </p:nvSpPr>
        <p:spPr>
          <a:xfrm>
            <a:off x="70866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voice analysis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E84D6EAA-B6C2-DA8E-82C4-DAE0CBC84366}"/>
              </a:ext>
            </a:extLst>
          </p:cNvPr>
          <p:cNvSpPr/>
          <p:nvPr/>
        </p:nvSpPr>
        <p:spPr>
          <a:xfrm>
            <a:off x="6263640" y="278892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2C1993EB-76FB-F73E-6DEF-43D7AD8725AA}"/>
              </a:ext>
            </a:extLst>
          </p:cNvPr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29C777BC-5F4A-2966-6426-F63AE67B1B58}"/>
              </a:ext>
            </a:extLst>
          </p:cNvPr>
          <p:cNvSpPr txBox="1"/>
          <p:nvPr/>
        </p:nvSpPr>
        <p:spPr>
          <a:xfrm>
            <a:off x="669340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provides a voice note and/or a medical image</a:t>
            </a:r>
            <a:endParaRPr lang="en-US" sz="125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FAE06551-4373-D195-5CB2-568B02640036}"/>
              </a:ext>
            </a:extLst>
          </p:cNvPr>
          <p:cNvSpPr/>
          <p:nvPr/>
        </p:nvSpPr>
        <p:spPr>
          <a:xfrm>
            <a:off x="6263640" y="356616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872B3474-06D6-91DC-0836-51C5556B04AE}"/>
              </a:ext>
            </a:extLst>
          </p:cNvPr>
          <p:cNvSpPr txBox="1"/>
          <p:nvPr/>
        </p:nvSpPr>
        <p:spPr>
          <a:xfrm>
            <a:off x="626364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2C702256-8265-FF78-A299-641181884654}"/>
              </a:ext>
            </a:extLst>
          </p:cNvPr>
          <p:cNvSpPr txBox="1"/>
          <p:nvPr/>
        </p:nvSpPr>
        <p:spPr>
          <a:xfrm>
            <a:off x="669340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transcribes audio; vision-language model reads the image</a:t>
            </a:r>
            <a:endParaRPr lang="en-US" sz="125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48A6BBCE-4995-BD65-A2FF-77D1B07F3021}"/>
              </a:ext>
            </a:extLst>
          </p:cNvPr>
          <p:cNvSpPr/>
          <p:nvPr/>
        </p:nvSpPr>
        <p:spPr>
          <a:xfrm>
            <a:off x="6263640" y="434340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34613A90-C57D-A67A-1411-F8594432E07F}"/>
              </a:ext>
            </a:extLst>
          </p:cNvPr>
          <p:cNvSpPr txBox="1"/>
          <p:nvPr/>
        </p:nvSpPr>
        <p:spPr>
          <a:xfrm>
            <a:off x="626364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AE45748-E1E6-B5E0-D5E2-412A22C3C730}"/>
              </a:ext>
            </a:extLst>
          </p:cNvPr>
          <p:cNvSpPr txBox="1"/>
          <p:nvPr/>
        </p:nvSpPr>
        <p:spPr>
          <a:xfrm>
            <a:off x="669340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text + image context sent to the LLM</a:t>
            </a:r>
            <a:endParaRPr lang="en-US" sz="125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A7B66B97-78C5-DA76-3AF0-1910DCFF6D70}"/>
              </a:ext>
            </a:extLst>
          </p:cNvPr>
          <p:cNvSpPr/>
          <p:nvPr/>
        </p:nvSpPr>
        <p:spPr>
          <a:xfrm>
            <a:off x="6263640" y="512064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9CBCC2CB-2430-9078-457C-0D3981C95DB9}"/>
              </a:ext>
            </a:extLst>
          </p:cNvPr>
          <p:cNvSpPr txBox="1"/>
          <p:nvPr/>
        </p:nvSpPr>
        <p:spPr>
          <a:xfrm>
            <a:off x="6263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811F47BE-FBFA-AE40-2FC5-6C5842CB6FAD}"/>
              </a:ext>
            </a:extLst>
          </p:cNvPr>
          <p:cNvSpPr txBox="1"/>
          <p:nvPr/>
        </p:nvSpPr>
        <p:spPr>
          <a:xfrm>
            <a:off x="669340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response returned as text and synthesized speech</a:t>
            </a:r>
            <a:endParaRPr lang="en-US" sz="125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BAB3A4A9-DE1A-42A3-7E82-DF2B64DA095C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343B0C84-3BCC-86B0-9DC5-16F476FD8437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7882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617D-BAC8-0705-6E1C-F60A381A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40B172-8017-4C01-F3B4-7F0D0021B811}"/>
              </a:ext>
            </a:extLst>
          </p:cNvPr>
          <p:cNvSpPr txBox="1"/>
          <p:nvPr/>
        </p:nvSpPr>
        <p:spPr>
          <a:xfrm>
            <a:off x="566928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General Medical Chat Interface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BDEE38-E0F9-5D22-C975-79E89245AAB2}"/>
              </a:ext>
            </a:extLst>
          </p:cNvPr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retrieval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33E6CF-1FEC-60FC-9CFA-E3A2573C5F80}"/>
              </a:ext>
            </a:extLst>
          </p:cNvPr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book_white.png">
            <a:extLst>
              <a:ext uri="{FF2B5EF4-FFF2-40B4-BE49-F238E27FC236}">
                <a16:creationId xmlns:a16="http://schemas.microsoft.com/office/drawing/2014/main" id="{C99DF222-9EB5-59AC-DFF3-E3EB01B6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BAADF74-3E17-5294-EF37-F9C3A6B6C962}"/>
              </a:ext>
            </a:extLst>
          </p:cNvPr>
          <p:cNvSpPr txBox="1"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</a:t>
            </a:r>
            <a:r>
              <a:rPr lang="en-US" sz="1800" b="1" dirty="0" err="1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Mdical</a:t>
            </a:r>
            <a:r>
              <a:rPr lang="en-US" sz="18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9C21505-3415-D8CE-6356-D8D1FE6564B6}"/>
              </a:ext>
            </a:extLst>
          </p:cNvPr>
          <p:cNvSpPr txBox="1"/>
          <p:nvPr/>
        </p:nvSpPr>
        <p:spPr>
          <a:xfrm>
            <a:off x="169164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retrieval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34EC4A1-80FA-2567-8B2E-E548DC0593F1}"/>
              </a:ext>
            </a:extLst>
          </p:cNvPr>
          <p:cNvSpPr/>
          <p:nvPr/>
        </p:nvSpPr>
        <p:spPr>
          <a:xfrm>
            <a:off x="868680" y="278892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85090F6-C82D-1DF6-F1A8-97C72805F717}"/>
              </a:ext>
            </a:extLst>
          </p:cNvPr>
          <p:cNvSpPr txBox="1"/>
          <p:nvPr/>
        </p:nvSpPr>
        <p:spPr>
          <a:xfrm>
            <a:off x="8686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7ACFB2A-F79C-0CA9-C69A-A9413D1DEA89}"/>
              </a:ext>
            </a:extLst>
          </p:cNvPr>
          <p:cNvSpPr txBox="1"/>
          <p:nvPr/>
        </p:nvSpPr>
        <p:spPr>
          <a:xfrm>
            <a:off x="129844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medical question (e.g. "What is jaundice?")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58E19BF-3CB8-3CB3-34AC-F0E6F45F6890}"/>
              </a:ext>
            </a:extLst>
          </p:cNvPr>
          <p:cNvSpPr/>
          <p:nvPr/>
        </p:nvSpPr>
        <p:spPr>
          <a:xfrm>
            <a:off x="868680" y="356616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A178094-8821-EE2D-1241-92F26D2A5098}"/>
              </a:ext>
            </a:extLst>
          </p:cNvPr>
          <p:cNvSpPr txBox="1"/>
          <p:nvPr/>
        </p:nvSpPr>
        <p:spPr>
          <a:xfrm>
            <a:off x="8686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73131AB-BD8C-E587-8D37-469FE19AF4EE}"/>
              </a:ext>
            </a:extLst>
          </p:cNvPr>
          <p:cNvSpPr txBox="1"/>
          <p:nvPr/>
        </p:nvSpPr>
        <p:spPr>
          <a:xfrm>
            <a:off x="129844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embedded via Sentence Transformers</a:t>
            </a:r>
            <a:endParaRPr lang="en-US" sz="12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7A864A4-E0F4-1DF0-5FB8-B49524283383}"/>
              </a:ext>
            </a:extLst>
          </p:cNvPr>
          <p:cNvSpPr/>
          <p:nvPr/>
        </p:nvSpPr>
        <p:spPr>
          <a:xfrm>
            <a:off x="868680" y="434340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15DD70C-4DED-CCA7-EA7D-B7BC311FBB1C}"/>
              </a:ext>
            </a:extLst>
          </p:cNvPr>
          <p:cNvSpPr txBox="1"/>
          <p:nvPr/>
        </p:nvSpPr>
        <p:spPr>
          <a:xfrm>
            <a:off x="8686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B8E8682-92C9-6835-6D34-73FCB08A5D1B}"/>
              </a:ext>
            </a:extLst>
          </p:cNvPr>
          <p:cNvSpPr txBox="1"/>
          <p:nvPr/>
        </p:nvSpPr>
        <p:spPr>
          <a:xfrm>
            <a:off x="129844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 finds top-k relevant documents</a:t>
            </a:r>
            <a:endParaRPr lang="en-US" sz="12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3F0D484-C350-CF4A-A143-163405698004}"/>
              </a:ext>
            </a:extLst>
          </p:cNvPr>
          <p:cNvSpPr/>
          <p:nvPr/>
        </p:nvSpPr>
        <p:spPr>
          <a:xfrm>
            <a:off x="868680" y="512064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3EF5356-E999-3CE3-EFF3-76AE1890AC14}"/>
              </a:ext>
            </a:extLst>
          </p:cNvPr>
          <p:cNvSpPr txBox="1"/>
          <p:nvPr/>
        </p:nvSpPr>
        <p:spPr>
          <a:xfrm>
            <a:off x="86868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E86BB17-CD22-552B-AD2B-7920BB7DAC31}"/>
              </a:ext>
            </a:extLst>
          </p:cNvPr>
          <p:cNvSpPr txBox="1"/>
          <p:nvPr/>
        </p:nvSpPr>
        <p:spPr>
          <a:xfrm>
            <a:off x="129844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grounded, sourced answer</a:t>
            </a:r>
            <a:endParaRPr lang="en-US" sz="1250" dirty="0"/>
          </a:p>
        </p:txBody>
      </p:sp>
      <p:pic>
        <p:nvPicPr>
          <p:cNvPr id="23" name="Image 1" descr="/home/claude/medassist/icons/image_white.png">
            <a:extLst>
              <a:ext uri="{FF2B5EF4-FFF2-40B4-BE49-F238E27FC236}">
                <a16:creationId xmlns:a16="http://schemas.microsoft.com/office/drawing/2014/main" id="{4289F8EF-264D-1A62-8479-A7B212A52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9" y="2028139"/>
            <a:ext cx="332842" cy="332842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67D12936-BD44-41C6-85FF-2F6A05D67B68}"/>
              </a:ext>
            </a:extLst>
          </p:cNvPr>
          <p:cNvSpPr txBox="1"/>
          <p:nvPr/>
        </p:nvSpPr>
        <p:spPr>
          <a:xfrm>
            <a:off x="70866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18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EEB1E0DA-C5EA-BB0A-D83F-F88FB9EF34B9}"/>
              </a:ext>
            </a:extLst>
          </p:cNvPr>
          <p:cNvSpPr/>
          <p:nvPr/>
        </p:nvSpPr>
        <p:spPr>
          <a:xfrm>
            <a:off x="6263640" y="278892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7BD4719-9FE6-1CC2-F6E0-404CAC8D6326}"/>
              </a:ext>
            </a:extLst>
          </p:cNvPr>
          <p:cNvSpPr txBox="1"/>
          <p:nvPr/>
        </p:nvSpPr>
        <p:spPr>
          <a:xfrm>
            <a:off x="669340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provides a voice note and/or a medical image</a:t>
            </a:r>
            <a:endParaRPr lang="en-US" sz="125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3B947E04-1B60-FA8F-8755-7F7AA194ED68}"/>
              </a:ext>
            </a:extLst>
          </p:cNvPr>
          <p:cNvSpPr/>
          <p:nvPr/>
        </p:nvSpPr>
        <p:spPr>
          <a:xfrm>
            <a:off x="6263640" y="356616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0C9D887C-1438-D2FD-0A7E-209997F5D7A3}"/>
              </a:ext>
            </a:extLst>
          </p:cNvPr>
          <p:cNvSpPr txBox="1"/>
          <p:nvPr/>
        </p:nvSpPr>
        <p:spPr>
          <a:xfrm>
            <a:off x="669340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</a:t>
            </a:r>
            <a:r>
              <a:rPr lang="en-US" sz="1250" dirty="0" err="1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transcibes</a:t>
            </a: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audio; vision-language model reads the image</a:t>
            </a:r>
            <a:endParaRPr lang="en-US" sz="125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0DB35641-88F1-10F2-36ED-40B4EDCBA58B}"/>
              </a:ext>
            </a:extLst>
          </p:cNvPr>
          <p:cNvSpPr/>
          <p:nvPr/>
        </p:nvSpPr>
        <p:spPr>
          <a:xfrm>
            <a:off x="6263640" y="434340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8FA87A02-1BA6-AF7F-B926-A37B42A6BE22}"/>
              </a:ext>
            </a:extLst>
          </p:cNvPr>
          <p:cNvSpPr txBox="1"/>
          <p:nvPr/>
        </p:nvSpPr>
        <p:spPr>
          <a:xfrm>
            <a:off x="626364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7B40971B-D657-9B30-CD77-7B322559001A}"/>
              </a:ext>
            </a:extLst>
          </p:cNvPr>
          <p:cNvSpPr txBox="1"/>
          <p:nvPr/>
        </p:nvSpPr>
        <p:spPr>
          <a:xfrm>
            <a:off x="669340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text + image context sent to the LLM</a:t>
            </a:r>
            <a:endParaRPr lang="en-US" sz="125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43BF1548-C758-E19A-4CA5-8344730CA60B}"/>
              </a:ext>
            </a:extLst>
          </p:cNvPr>
          <p:cNvSpPr/>
          <p:nvPr/>
        </p:nvSpPr>
        <p:spPr>
          <a:xfrm>
            <a:off x="6263640" y="512064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D3F961CA-E352-3C59-CE81-02BCC12C0F94}"/>
              </a:ext>
            </a:extLst>
          </p:cNvPr>
          <p:cNvSpPr txBox="1"/>
          <p:nvPr/>
        </p:nvSpPr>
        <p:spPr>
          <a:xfrm>
            <a:off x="6263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37204005-387E-FFBC-AC8A-CF5505B7C5CD}"/>
              </a:ext>
            </a:extLst>
          </p:cNvPr>
          <p:cNvSpPr txBox="1"/>
          <p:nvPr/>
        </p:nvSpPr>
        <p:spPr>
          <a:xfrm>
            <a:off x="669340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response returned as text and synthesized speech</a:t>
            </a:r>
            <a:endParaRPr lang="en-US" sz="125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148E2775-99BC-5C5D-4FA8-840F03FB17F2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D81208D0-78F5-B0C0-8C73-B797B79FDEDF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05836CB-EF33-2F01-ACF6-03DF2BB2B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" y="1324430"/>
            <a:ext cx="11026353" cy="517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0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04C5-6304-F4E6-D372-60F32041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455BEB-83E7-5975-9F79-9BB34FB5C11E}"/>
              </a:ext>
            </a:extLst>
          </p:cNvPr>
          <p:cNvSpPr txBox="1"/>
          <p:nvPr/>
        </p:nvSpPr>
        <p:spPr>
          <a:xfrm>
            <a:off x="566928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Medical Assistant Interface 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2748B1-0B34-BEFA-59AA-86A0F57556C5}"/>
              </a:ext>
            </a:extLst>
          </p:cNvPr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voice analysis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FA74A0-AAB0-E247-0E56-08A7DF13EFB0}"/>
              </a:ext>
            </a:extLst>
          </p:cNvPr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book_white.png">
            <a:extLst>
              <a:ext uri="{FF2B5EF4-FFF2-40B4-BE49-F238E27FC236}">
                <a16:creationId xmlns:a16="http://schemas.microsoft.com/office/drawing/2014/main" id="{7763DFF9-C311-8ECE-2EAA-A5A7631A7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8F730EC-3C5E-971F-0CAB-1B99FB2C8553}"/>
              </a:ext>
            </a:extLst>
          </p:cNvPr>
          <p:cNvSpPr txBox="1"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</a:t>
            </a:r>
            <a:r>
              <a:rPr lang="en-US" sz="1800" b="1" dirty="0" err="1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Mdical</a:t>
            </a:r>
            <a:r>
              <a:rPr lang="en-US" sz="18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81660E-32A8-DED5-F0DC-8B6CD187A5C7}"/>
              </a:ext>
            </a:extLst>
          </p:cNvPr>
          <p:cNvSpPr txBox="1"/>
          <p:nvPr/>
        </p:nvSpPr>
        <p:spPr>
          <a:xfrm>
            <a:off x="169164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retrieval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AF517AD-4C97-2105-2F6E-09FF05579F63}"/>
              </a:ext>
            </a:extLst>
          </p:cNvPr>
          <p:cNvSpPr/>
          <p:nvPr/>
        </p:nvSpPr>
        <p:spPr>
          <a:xfrm>
            <a:off x="868680" y="278892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5FF2A12-179D-40AF-8BC0-D58FD4D0F24A}"/>
              </a:ext>
            </a:extLst>
          </p:cNvPr>
          <p:cNvSpPr txBox="1"/>
          <p:nvPr/>
        </p:nvSpPr>
        <p:spPr>
          <a:xfrm>
            <a:off x="8686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88050F5-C4CD-4E95-D500-CACE1B632C12}"/>
              </a:ext>
            </a:extLst>
          </p:cNvPr>
          <p:cNvSpPr txBox="1"/>
          <p:nvPr/>
        </p:nvSpPr>
        <p:spPr>
          <a:xfrm>
            <a:off x="129844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medical question (e.g. "What is jaundice?")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EC5AC25-929C-EAEF-CB06-9D6C8F65B68F}"/>
              </a:ext>
            </a:extLst>
          </p:cNvPr>
          <p:cNvSpPr/>
          <p:nvPr/>
        </p:nvSpPr>
        <p:spPr>
          <a:xfrm>
            <a:off x="868680" y="356616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E6A056D-2796-E7B6-6B63-BC5E78A278AD}"/>
              </a:ext>
            </a:extLst>
          </p:cNvPr>
          <p:cNvSpPr txBox="1"/>
          <p:nvPr/>
        </p:nvSpPr>
        <p:spPr>
          <a:xfrm>
            <a:off x="8686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D0D2852-BE0C-5FD4-30E5-D5A238A40029}"/>
              </a:ext>
            </a:extLst>
          </p:cNvPr>
          <p:cNvSpPr txBox="1"/>
          <p:nvPr/>
        </p:nvSpPr>
        <p:spPr>
          <a:xfrm>
            <a:off x="129844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embedded via Sentence Transformers</a:t>
            </a:r>
            <a:endParaRPr lang="en-US" sz="12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FFB6F5C-BF88-E0E3-3211-468322AB5B00}"/>
              </a:ext>
            </a:extLst>
          </p:cNvPr>
          <p:cNvSpPr/>
          <p:nvPr/>
        </p:nvSpPr>
        <p:spPr>
          <a:xfrm>
            <a:off x="868680" y="434340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92B0BEE-A1C5-B03F-C9E8-221ECE566D5C}"/>
              </a:ext>
            </a:extLst>
          </p:cNvPr>
          <p:cNvSpPr txBox="1"/>
          <p:nvPr/>
        </p:nvSpPr>
        <p:spPr>
          <a:xfrm>
            <a:off x="8686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0E57E7D-7A3B-B54B-DE6E-DAA63B3EC878}"/>
              </a:ext>
            </a:extLst>
          </p:cNvPr>
          <p:cNvSpPr txBox="1"/>
          <p:nvPr/>
        </p:nvSpPr>
        <p:spPr>
          <a:xfrm>
            <a:off x="129844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 finds top-k relevant documents</a:t>
            </a:r>
            <a:endParaRPr lang="en-US" sz="12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BD1BB8D-24C6-4D1A-9CE9-870F8742940A}"/>
              </a:ext>
            </a:extLst>
          </p:cNvPr>
          <p:cNvSpPr/>
          <p:nvPr/>
        </p:nvSpPr>
        <p:spPr>
          <a:xfrm>
            <a:off x="868680" y="512064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FF57B39-9DC5-E32A-386C-7846D40D98C5}"/>
              </a:ext>
            </a:extLst>
          </p:cNvPr>
          <p:cNvSpPr txBox="1"/>
          <p:nvPr/>
        </p:nvSpPr>
        <p:spPr>
          <a:xfrm>
            <a:off x="86868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8931752-EC25-63FC-149F-17E2B0B65BF4}"/>
              </a:ext>
            </a:extLst>
          </p:cNvPr>
          <p:cNvSpPr txBox="1"/>
          <p:nvPr/>
        </p:nvSpPr>
        <p:spPr>
          <a:xfrm>
            <a:off x="129844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grounded, sourced answer</a:t>
            </a:r>
            <a:endParaRPr lang="en-US" sz="1250" dirty="0"/>
          </a:p>
        </p:txBody>
      </p:sp>
      <p:pic>
        <p:nvPicPr>
          <p:cNvPr id="23" name="Image 1" descr="/home/claude/medassist/icons/image_white.png">
            <a:extLst>
              <a:ext uri="{FF2B5EF4-FFF2-40B4-BE49-F238E27FC236}">
                <a16:creationId xmlns:a16="http://schemas.microsoft.com/office/drawing/2014/main" id="{99BF2B82-CA51-5C2B-FD34-70DD5255E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9" y="2028139"/>
            <a:ext cx="332842" cy="332842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A253FAD0-34B6-548C-F419-BAD42DE0D5DF}"/>
              </a:ext>
            </a:extLst>
          </p:cNvPr>
          <p:cNvSpPr txBox="1"/>
          <p:nvPr/>
        </p:nvSpPr>
        <p:spPr>
          <a:xfrm>
            <a:off x="70866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18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5EE84019-49C1-ED51-2645-A9E24CB7BDC2}"/>
              </a:ext>
            </a:extLst>
          </p:cNvPr>
          <p:cNvSpPr/>
          <p:nvPr/>
        </p:nvSpPr>
        <p:spPr>
          <a:xfrm>
            <a:off x="6263640" y="278892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E742FFD-B565-94C3-52A0-C0B3A698909F}"/>
              </a:ext>
            </a:extLst>
          </p:cNvPr>
          <p:cNvSpPr txBox="1"/>
          <p:nvPr/>
        </p:nvSpPr>
        <p:spPr>
          <a:xfrm>
            <a:off x="6693408" y="2743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provides a voice note and/or a medical image</a:t>
            </a:r>
            <a:endParaRPr lang="en-US" sz="125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C9C72D7-4A5C-CA52-1F27-ADC0A910197D}"/>
              </a:ext>
            </a:extLst>
          </p:cNvPr>
          <p:cNvSpPr/>
          <p:nvPr/>
        </p:nvSpPr>
        <p:spPr>
          <a:xfrm>
            <a:off x="6263640" y="356616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BF6471AC-324B-E2AC-72D8-E6F3A9368E8B}"/>
              </a:ext>
            </a:extLst>
          </p:cNvPr>
          <p:cNvSpPr txBox="1"/>
          <p:nvPr/>
        </p:nvSpPr>
        <p:spPr>
          <a:xfrm>
            <a:off x="6693408" y="3520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</a:t>
            </a:r>
            <a:r>
              <a:rPr lang="en-US" sz="1250" dirty="0" err="1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transcibes</a:t>
            </a: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audio; vision-language model reads the image</a:t>
            </a:r>
            <a:endParaRPr lang="en-US" sz="125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D9E2B882-D16C-56E2-94A9-5CD1A41F049C}"/>
              </a:ext>
            </a:extLst>
          </p:cNvPr>
          <p:cNvSpPr/>
          <p:nvPr/>
        </p:nvSpPr>
        <p:spPr>
          <a:xfrm>
            <a:off x="6263640" y="434340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AF2B6B5-D60E-6B22-00FC-3A29A235812F}"/>
              </a:ext>
            </a:extLst>
          </p:cNvPr>
          <p:cNvSpPr txBox="1"/>
          <p:nvPr/>
        </p:nvSpPr>
        <p:spPr>
          <a:xfrm>
            <a:off x="626364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6D30301-6FAB-0BF6-C4D6-0641B32BE291}"/>
              </a:ext>
            </a:extLst>
          </p:cNvPr>
          <p:cNvSpPr txBox="1"/>
          <p:nvPr/>
        </p:nvSpPr>
        <p:spPr>
          <a:xfrm>
            <a:off x="6693408" y="4297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text + image context sent to the LLM</a:t>
            </a:r>
            <a:endParaRPr lang="en-US" sz="125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C1BD9906-7B85-57B8-05D8-C792E2029A9B}"/>
              </a:ext>
            </a:extLst>
          </p:cNvPr>
          <p:cNvSpPr/>
          <p:nvPr/>
        </p:nvSpPr>
        <p:spPr>
          <a:xfrm>
            <a:off x="6263640" y="5120640"/>
            <a:ext cx="292608" cy="29260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C19D9D4-4823-8448-10E8-CF1B36EF6117}"/>
              </a:ext>
            </a:extLst>
          </p:cNvPr>
          <p:cNvSpPr txBox="1"/>
          <p:nvPr/>
        </p:nvSpPr>
        <p:spPr>
          <a:xfrm>
            <a:off x="6263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C57A36B0-1767-C5E6-4766-A23649D56318}"/>
              </a:ext>
            </a:extLst>
          </p:cNvPr>
          <p:cNvSpPr txBox="1"/>
          <p:nvPr/>
        </p:nvSpPr>
        <p:spPr>
          <a:xfrm>
            <a:off x="6693408" y="5074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response returned as text and synthesized speech</a:t>
            </a:r>
            <a:endParaRPr lang="en-US" sz="125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A7D673A8-CDB9-1E20-B511-871E1C384935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1ADE2587-F777-EF3A-FD2B-8720FF69B7E5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EFF856-A90B-702B-4FB6-138F157B1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93" y="1308446"/>
            <a:ext cx="11286802" cy="526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— General Medical Chat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from a plain-language question to a grounded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6537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14" y="1997050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01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671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jaundice?" — a natural-language medical query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515600" y="1691640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pic>
        <p:nvPicPr>
          <p:cNvPr id="10" name="Image 1" descr="/home/claude/medassist/icons/chevr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615184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80176" y="2569464"/>
            <a:ext cx="292608" cy="292608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2" name="Image 2" descr="/home/claude/medassist/icons/chevr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642616"/>
            <a:ext cx="128016" cy="12801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" y="2770632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F4F7F7"/>
          </a:solidFill>
          <a:ln/>
        </p:spPr>
      </p:sp>
      <p:sp>
        <p:nvSpPr>
          <p:cNvPr id="14" name="Shape 9"/>
          <p:cNvSpPr/>
          <p:nvPr/>
        </p:nvSpPr>
        <p:spPr>
          <a:xfrm>
            <a:off x="1005840" y="29443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3" descr="/home/claude/medassist/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514" y="3076042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8308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783080" y="3246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(all-MiniLM-L6-v2) encodes the query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10515600" y="2770632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pic>
        <p:nvPicPr>
          <p:cNvPr id="19" name="Image 4" descr="/home/claude/medassist/icons/chevr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694176"/>
            <a:ext cx="219456" cy="2194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980176" y="3648456"/>
            <a:ext cx="292608" cy="292608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21" name="Image 5" descr="/home/claude/medassist/icons/chevr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3721608"/>
            <a:ext cx="128016" cy="12801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22960" y="3849624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EAF4F4"/>
          </a:solidFill>
          <a:ln/>
        </p:spPr>
      </p:sp>
      <p:sp>
        <p:nvSpPr>
          <p:cNvPr id="23" name="Shape 15"/>
          <p:cNvSpPr/>
          <p:nvPr/>
        </p:nvSpPr>
        <p:spPr>
          <a:xfrm>
            <a:off x="1005840" y="402336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6" descr="/home/claude/medassis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514" y="4155034"/>
            <a:ext cx="285293" cy="28529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783080" y="3959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1783080" y="432511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retrieves top-k relevant medical documents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10515600" y="3849624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pic>
        <p:nvPicPr>
          <p:cNvPr id="28" name="Image 7" descr="/home/claude/medassist/icons/chevr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4773168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980176" y="4727448"/>
            <a:ext cx="292608" cy="292608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0" name="Image 8" descr="/home/claude/medassist/icons/chevr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4800600"/>
            <a:ext cx="128016" cy="12801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822960" y="4928616"/>
            <a:ext cx="10607040" cy="896112"/>
          </a:xfrm>
          <a:prstGeom prst="roundRect">
            <a:avLst>
              <a:gd name="adj" fmla="val 10204"/>
            </a:avLst>
          </a:prstGeom>
          <a:solidFill>
            <a:srgbClr val="F4F7F7"/>
          </a:solidFill>
          <a:ln/>
        </p:spPr>
      </p:sp>
      <p:sp>
        <p:nvSpPr>
          <p:cNvPr id="32" name="Shape 21"/>
          <p:cNvSpPr/>
          <p:nvPr/>
        </p:nvSpPr>
        <p:spPr>
          <a:xfrm>
            <a:off x="1005840" y="510235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3" name="Image 9" descr="/home/claude/medassist/icons/fi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514" y="5234026"/>
            <a:ext cx="285293" cy="285293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783080" y="50383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</a:t>
            </a:r>
            <a:endParaRPr lang="en-US" sz="1600" dirty="0"/>
          </a:p>
        </p:txBody>
      </p:sp>
      <p:sp>
        <p:nvSpPr>
          <p:cNvPr id="35" name="Text 23"/>
          <p:cNvSpPr txBox="1"/>
          <p:nvPr/>
        </p:nvSpPr>
        <p:spPr>
          <a:xfrm>
            <a:off x="1783080" y="540410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sources returned with metadata (source, page)</a:t>
            </a:r>
            <a:endParaRPr lang="en-US" sz="1250" dirty="0"/>
          </a:p>
        </p:txBody>
      </p:sp>
      <p:sp>
        <p:nvSpPr>
          <p:cNvPr id="36" name="Text 24"/>
          <p:cNvSpPr txBox="1"/>
          <p:nvPr/>
        </p:nvSpPr>
        <p:spPr>
          <a:xfrm>
            <a:off x="10515600" y="4928616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RAG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powers grounded, safe medical responses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65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84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Configuration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743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.env with a dedicated RAG_GROQ_API_KEY, separate from the main API key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medassist/icons/magi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984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 LLM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43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openai/gpt-oss-20b · temperature 0.5 · max_tokens 512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251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home/claude/medassist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270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5029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medical guidance with retrieved context and safety instructions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A5C5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2519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home/claude/medassist/icons/lin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9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2702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Chain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50292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create_retrieval_chain combines the retriever with the document chain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after the RAG pipeline completes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1181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29535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retrieved medical knowledge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8039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6393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plain-language explanations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44897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325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inline source references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0E7C7B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2011680"/>
            <a:ext cx="640080" cy="640080"/>
          </a:xfrm>
          <a:prstGeom prst="ellipse">
            <a:avLst/>
          </a:prstGeom>
          <a:solidFill>
            <a:srgbClr val="0A5C5B"/>
          </a:solidFill>
          <a:ln/>
        </p:spPr>
      </p:sp>
      <p:pic>
        <p:nvPicPr>
          <p:cNvPr id="16" name="Image 1" descr="/home/claude/medassist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9" y="216529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866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Display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63640" y="3118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37960" y="29535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name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263640" y="3803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37960" y="36393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page number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263640" y="44897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37960" y="4325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preview of the retrieved content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cards are generated together for every user query, keeping answers transparent and traceable.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— Multimodal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voice + image to a spoken doctor's response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6420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mi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81782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Description (Audio)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transcribes the patient's spoken symptoms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371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0" y="166420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medassist/icon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819" y="181782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 analyzes the image — the "brain of the doctor"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9544" y="2660904"/>
            <a:ext cx="292608" cy="27432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5" name="Image 2" descr="/home/claude/medassist/icons/chevr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696" y="2715768"/>
            <a:ext cx="146304" cy="1645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3044952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A5C5B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3" descr="/home/claude/medassist/icons/wa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04495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Input:  Patient transcript text + image analysis result, combined into one context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949544" y="3785616"/>
            <a:ext cx="292608" cy="27432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21" name="Image 4" descr="/home/claude/medassist/icons/chevr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696" y="3840480"/>
            <a:ext cx="146304" cy="16459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48640" y="4169664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E8604C"/>
          </a:solidFill>
          <a:ln/>
        </p:spPr>
      </p:sp>
      <p:sp>
        <p:nvSpPr>
          <p:cNvPr id="23" name="Shape 16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C24732"/>
          </a:solidFill>
          <a:ln/>
        </p:spPr>
      </p:sp>
      <p:pic>
        <p:nvPicPr>
          <p:cNvPr id="24" name="Image 5" descr="/home/claude/medassist/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38912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371600" y="416966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Response — generated by the LLM (Groq) from the combined patient context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5949544" y="4910328"/>
            <a:ext cx="292608" cy="27432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27" name="Image 6" descr="/home/claude/medassist/icons/chevr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696" y="4965192"/>
            <a:ext cx="146304" cy="16459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48640" y="5294376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132A46"/>
          </a:solidFill>
          <a:ln/>
        </p:spPr>
      </p:sp>
      <p:sp>
        <p:nvSpPr>
          <p:cNvPr id="29" name="Shape 20"/>
          <p:cNvSpPr/>
          <p:nvPr/>
        </p:nvSpPr>
        <p:spPr>
          <a:xfrm>
            <a:off x="713232" y="54132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7" descr="/home/claude/medassist/icons/volum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3" y="5533949"/>
            <a:ext cx="261518" cy="26151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71600" y="5385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250" dirty="0"/>
          </a:p>
        </p:txBody>
      </p:sp>
      <p:sp>
        <p:nvSpPr>
          <p:cNvPr id="32" name="Text 22"/>
          <p:cNvSpPr txBox="1"/>
          <p:nvPr/>
        </p:nvSpPr>
        <p:spPr>
          <a:xfrm>
            <a:off x="1371600" y="567842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reply to doctor audio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4023360" y="5294376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F4F7F7"/>
          </a:solidFill>
          <a:ln/>
        </p:spPr>
      </p:sp>
      <p:sp>
        <p:nvSpPr>
          <p:cNvPr id="34" name="Shape 24"/>
          <p:cNvSpPr/>
          <p:nvPr/>
        </p:nvSpPr>
        <p:spPr>
          <a:xfrm>
            <a:off x="4187952" y="54132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5" name="Image 8" descr="/home/claude/medassist/icons/fi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8653" y="5533949"/>
            <a:ext cx="261518" cy="26151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4846320" y="5294376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patient transcript (text) · AI medical guidance (text) · audio response (doctor voice)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frameworks behind the assistant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medassist/icon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745" y="2123237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10" name="Shape 7"/>
          <p:cNvSpPr/>
          <p:nvPr/>
        </p:nvSpPr>
        <p:spPr>
          <a:xfrm>
            <a:off x="409194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medassist/icons/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505" y="212323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Retrieval-chain orchestration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85216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74370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home/claude/medassist/icons/magi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265" y="212323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436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LLM inference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50392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EAF4F4"/>
          </a:solidFill>
          <a:ln/>
        </p:spPr>
      </p:sp>
      <p:sp>
        <p:nvSpPr>
          <p:cNvPr id="20" name="Shape 15"/>
          <p:cNvSpPr/>
          <p:nvPr/>
        </p:nvSpPr>
        <p:spPr>
          <a:xfrm>
            <a:off x="9395460" y="194767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home/claude/medassis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1025" y="212323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9536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4108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4F7F7"/>
          </a:solidFill>
          <a:ln/>
        </p:spPr>
      </p:sp>
      <p:sp>
        <p:nvSpPr>
          <p:cNvPr id="25" name="Shape 19"/>
          <p:cNvSpPr/>
          <p:nvPr/>
        </p:nvSpPr>
        <p:spPr>
          <a:xfrm>
            <a:off x="1440180" y="409651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home/claude/medassist/icon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745" y="4272077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008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model hosting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00400" y="38404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4F7F7"/>
          </a:solidFill>
          <a:ln/>
        </p:spPr>
      </p:sp>
      <p:sp>
        <p:nvSpPr>
          <p:cNvPr id="30" name="Shape 23"/>
          <p:cNvSpPr/>
          <p:nvPr/>
        </p:nvSpPr>
        <p:spPr>
          <a:xfrm>
            <a:off x="4091940" y="409651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5" descr="/home/claude/medassist/icons/lay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505" y="4272077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29184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33756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852160" y="38404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4F7F7"/>
          </a:solidFill>
          <a:ln/>
        </p:spPr>
      </p:sp>
      <p:sp>
        <p:nvSpPr>
          <p:cNvPr id="35" name="Shape 27"/>
          <p:cNvSpPr/>
          <p:nvPr/>
        </p:nvSpPr>
        <p:spPr>
          <a:xfrm>
            <a:off x="6743700" y="4096512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6" name="Image 6" descr="/home/claude/medassist/icons/imag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9265" y="4272077"/>
            <a:ext cx="380390" cy="38039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94360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Vision APIs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98932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Speech-to-text, TTS &amp; image analysis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Important Notes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EAF4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55648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medassist/icons/st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98294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254203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70432" y="23957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FAISS for accurate, grounded responses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13639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70432" y="29900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 support (image + voice)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73075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70432" y="35844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and text-to-speech built in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32511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70432" y="4178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source display for transparency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91947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70432" y="47731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workflows for chat vs. multimodal assistant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551383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70432" y="53675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Gradio interface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132A46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1755648"/>
            <a:ext cx="594360" cy="5943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21" name="Image 1" descr="/home/claude/medassist/icons/inf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86" y="1898294"/>
            <a:ext cx="309067" cy="30906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263640" y="2542032"/>
            <a:ext cx="146304" cy="14630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565392" y="239572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dedicated RAG_GROQ_API_KEY, keeping the main GROQ_API_KEY isolated for other modules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63640" y="3593592"/>
            <a:ext cx="146304" cy="14630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565392" y="344728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diagnosis — provides educational information based on the knowledge base only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263640" y="4645152"/>
            <a:ext cx="146304" cy="14630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565392" y="449884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privacy-conscious principles and clear safety disclaimers throughout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A5C5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00400" cy="32004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210312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medassist/icons/userm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322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knowledge. Multimodal input.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Human-centered design.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Medical Assistant — RAG + LLM · Image + Voice · Text + Audio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1046</Words>
  <Application>Microsoft Office PowerPoint</Application>
  <PresentationFormat>Widescreen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Smrithi Pillai</cp:lastModifiedBy>
  <cp:revision>2</cp:revision>
  <dcterms:created xsi:type="dcterms:W3CDTF">2026-09-18T10:23:21Z</dcterms:created>
  <dcterms:modified xsi:type="dcterms:W3CDTF">2026-09-18T14:52:37Z</dcterms:modified>
</cp:coreProperties>
</file>