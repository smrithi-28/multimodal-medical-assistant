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7" r:id="rId4"/>
    <p:sldId id="265" r:id="rId5"/>
    <p:sldId id="266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C97647-C76B-458B-B50D-CD21B7E4A235}" v="18" dt="2026-09-18T14:16:40.3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1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43869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B3C40-3235-6228-D930-2D5904789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A60F92-A5F0-EC5B-D55C-EA166EA8B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6CF60-BFE0-BE84-D08E-59EC800A76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81C586-DB36-F647-94FE-046C397247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7183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DDE37-8F9C-E5AB-ACC5-D6DC0D6FE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B87B03-29A0-1EA9-F15F-E08CBC00A0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78AA65-7F52-5F0B-9614-1C8BFBF6AA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5E8ED0-B58F-2375-C457-3C9020C7AB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003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526CF-1232-2453-FA9F-969D32C31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B924-F128-78F4-E3B7-0665DEACFB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3AB055-E15F-6301-88CD-831EDBDB7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B02E9-EC9E-94AF-80A0-3944A4239C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8088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8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Relationship Id="rId9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4114800" cy="4114800"/>
          </a:xfrm>
          <a:prstGeom prst="ellipse">
            <a:avLst/>
          </a:prstGeom>
          <a:solidFill>
            <a:srgbClr val="0A5C5B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2011680"/>
            <a:ext cx="2743200" cy="2743200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822960"/>
            <a:ext cx="822960" cy="82296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5" name="Image 0" descr="/home/claude/medassist/icons/heartbea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470" y="1020470"/>
            <a:ext cx="427939" cy="4279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24028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 MEDICAL ASSISTANT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74655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i="1" dirty="0">
              <a:solidFill>
                <a:srgbClr val="4FD1C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IN" i="1" dirty="0">
                <a:solidFill>
                  <a:srgbClr val="00B050"/>
                </a:solidFill>
              </a:rPr>
              <a:t>A multimodal AI medical assistant that accepts text, speech, and medical images, uses RAG and LLMs to generate context-aware responses, and provides answers in both text and speech.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822960" y="4251960"/>
            <a:ext cx="1613647" cy="384048"/>
          </a:xfrm>
          <a:prstGeom prst="roundRect">
            <a:avLst>
              <a:gd name="adj" fmla="val 50000"/>
            </a:avLst>
          </a:prstGeom>
          <a:solidFill>
            <a:srgbClr val="0A5C5B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4251960"/>
            <a:ext cx="16136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LLM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665207" y="4251960"/>
            <a:ext cx="2086984" cy="384048"/>
          </a:xfrm>
          <a:prstGeom prst="roundRect">
            <a:avLst>
              <a:gd name="adj" fmla="val 50000"/>
            </a:avLst>
          </a:prstGeom>
          <a:solidFill>
            <a:srgbClr val="0A5C5B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65207" y="4251960"/>
            <a:ext cx="2086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+ Voice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980791" y="4251960"/>
            <a:ext cx="1968649" cy="384048"/>
          </a:xfrm>
          <a:prstGeom prst="roundRect">
            <a:avLst>
              <a:gd name="adj" fmla="val 50000"/>
            </a:avLst>
          </a:prstGeom>
          <a:solidFill>
            <a:srgbClr val="0A5C5B"/>
          </a:solidFill>
          <a:ln w="12700">
            <a:solidFill>
              <a:srgbClr val="4FD1C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80791" y="4251960"/>
            <a:ext cx="19686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+ Audio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6263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Smrithi Pillai</a:t>
            </a:r>
            <a:endParaRPr lang="en-US" sz="1600" b="1" dirty="0">
              <a:solidFill>
                <a:srgbClr val="00B05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285DAE-AA0D-AFDE-9899-C88435F18FE2}"/>
              </a:ext>
            </a:extLst>
          </p:cNvPr>
          <p:cNvSpPr txBox="1"/>
          <p:nvPr/>
        </p:nvSpPr>
        <p:spPr>
          <a:xfrm>
            <a:off x="1843430" y="1065162"/>
            <a:ext cx="69023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1M1B AI for Sustainability Virtual Internship Project Presentation </a:t>
            </a:r>
            <a:endParaRPr lang="en-US" sz="1600" b="1" dirty="0">
              <a:solidFill>
                <a:srgbClr val="00B050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212080" cy="4572000"/>
          </a:xfrm>
          <a:prstGeom prst="roundRect">
            <a:avLst>
              <a:gd name="adj" fmla="val 2400"/>
            </a:avLst>
          </a:prstGeom>
          <a:solidFill>
            <a:srgbClr val="EAF4F4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691640" y="190195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6910" y="1681484"/>
            <a:ext cx="4930658" cy="42438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400" i="1" dirty="0"/>
              <a:t>Access to understandable and reliable medical information can be challenging, especially when users have difficulty interpreting complex medical terminology or communicating their concerns through text alone. </a:t>
            </a:r>
          </a:p>
          <a:p>
            <a:endParaRPr lang="en-IN" sz="1400" i="1" dirty="0"/>
          </a:p>
          <a:p>
            <a:r>
              <a:rPr lang="en-IN" sz="1400" i="1" dirty="0"/>
              <a:t>Traditional healthcare support may also be less accessible to people who prefer </a:t>
            </a:r>
            <a:r>
              <a:rPr lang="en-IN" sz="1400" b="1" i="1" dirty="0"/>
              <a:t>voice-based interaction</a:t>
            </a:r>
            <a:r>
              <a:rPr lang="en-IN" sz="1400" i="1" dirty="0"/>
              <a:t> or need assistance understanding information from </a:t>
            </a:r>
            <a:r>
              <a:rPr lang="en-IN" sz="1400" b="1" i="1" dirty="0"/>
              <a:t>medical images</a:t>
            </a:r>
            <a:r>
              <a:rPr lang="en-IN" sz="1400" i="1" dirty="0"/>
              <a:t>.</a:t>
            </a:r>
          </a:p>
          <a:p>
            <a:endParaRPr lang="en-IN" sz="1400" i="1" dirty="0"/>
          </a:p>
          <a:p>
            <a:r>
              <a:rPr lang="en-IN" sz="1400" i="1" dirty="0"/>
              <a:t>The </a:t>
            </a:r>
            <a:r>
              <a:rPr lang="en-IN" sz="1400" b="1" i="1" dirty="0"/>
              <a:t>Multimodal Medical Assistant</a:t>
            </a:r>
            <a:r>
              <a:rPr lang="en-IN" sz="1400" i="1" dirty="0"/>
              <a:t> addresses this problem by providing a single AI-powered platform where users can </a:t>
            </a:r>
            <a:r>
              <a:rPr lang="en-IN" sz="1400" b="1" i="1" dirty="0"/>
              <a:t>type or speak their medical queries and upload medical images</a:t>
            </a:r>
            <a:r>
              <a:rPr lang="en-IN" sz="1400" i="1" dirty="0"/>
              <a:t>. The system combines </a:t>
            </a:r>
            <a:r>
              <a:rPr lang="en-IN" sz="1400" b="1" i="1" dirty="0"/>
              <a:t>speech processing, multimodal AI, RAG, and LLMs</a:t>
            </a:r>
            <a:r>
              <a:rPr lang="en-IN" sz="1400" i="1" dirty="0"/>
              <a:t> to retrieve relevant information and generate understandable responses in </a:t>
            </a:r>
            <a:r>
              <a:rPr lang="en-IN" sz="1400" b="1" i="1" dirty="0"/>
              <a:t>text and speech</a:t>
            </a:r>
            <a:r>
              <a:rPr lang="en-IN" sz="1400" i="1" dirty="0"/>
              <a:t>.</a:t>
            </a:r>
          </a:p>
          <a:p>
            <a:endParaRPr lang="en-IN" sz="1400" dirty="0"/>
          </a:p>
          <a:p>
            <a:r>
              <a:rPr lang="en-IN" sz="1400" i="1" dirty="0"/>
              <a:t>The system is designed as an </a:t>
            </a:r>
            <a:r>
              <a:rPr lang="en-IN" sz="1400" b="1" i="1" dirty="0"/>
              <a:t>informational support tool</a:t>
            </a:r>
            <a:r>
              <a:rPr lang="en-IN" sz="1400" i="1" dirty="0"/>
              <a:t>, not a replacement for professional medical diagnosis or treatment.</a:t>
            </a:r>
          </a:p>
        </p:txBody>
      </p:sp>
      <p:sp>
        <p:nvSpPr>
          <p:cNvPr id="17" name="Text 14"/>
          <p:cNvSpPr txBox="1"/>
          <p:nvPr/>
        </p:nvSpPr>
        <p:spPr>
          <a:xfrm>
            <a:off x="1298448" y="429768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943600" y="1554480"/>
            <a:ext cx="5212080" cy="4572000"/>
          </a:xfrm>
          <a:prstGeom prst="roundRect">
            <a:avLst>
              <a:gd name="adj" fmla="val 2400"/>
            </a:avLst>
          </a:prstGeom>
          <a:solidFill>
            <a:srgbClr val="132A46"/>
          </a:solidFill>
          <a:ln/>
          <a:effectLst>
            <a:outerShdw blurRad="1016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63640" y="1874520"/>
            <a:ext cx="640080" cy="640080"/>
          </a:xfrm>
          <a:prstGeom prst="ellipse">
            <a:avLst/>
          </a:prstGeom>
          <a:solidFill>
            <a:srgbClr val="4FD1C5"/>
          </a:solidFill>
          <a:ln/>
        </p:spPr>
      </p:sp>
      <p:pic>
        <p:nvPicPr>
          <p:cNvPr id="23" name="Image 1" descr="/home/claude/medassist/icons/imag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7259" y="2028139"/>
            <a:ext cx="332842" cy="33284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086600" y="190195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i="1" dirty="0">
                <a:solidFill>
                  <a:schemeClr val="bg1"/>
                </a:solidFill>
              </a:rPr>
              <a:t>UN SDG Alignment</a:t>
            </a:r>
            <a:endParaRPr lang="en-US" sz="1800" i="1" dirty="0">
              <a:solidFill>
                <a:schemeClr val="bg1"/>
              </a:solidFill>
            </a:endParaRPr>
          </a:p>
        </p:txBody>
      </p:sp>
      <p:sp>
        <p:nvSpPr>
          <p:cNvPr id="25" name="Text 21"/>
          <p:cNvSpPr txBox="1"/>
          <p:nvPr/>
        </p:nvSpPr>
        <p:spPr>
          <a:xfrm>
            <a:off x="70866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6693408" y="274320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400" b="1" i="1" dirty="0">
                <a:solidFill>
                  <a:schemeClr val="bg1"/>
                </a:solidFill>
              </a:rPr>
              <a:t>SDG 3 – Good Health &amp; Well-Being:</a:t>
            </a:r>
            <a:r>
              <a:rPr lang="en-IN" sz="1400" i="1" dirty="0">
                <a:solidFill>
                  <a:schemeClr val="bg1"/>
                </a:solidFill>
              </a:rPr>
              <a:t> Improves access to understandable medical information through </a:t>
            </a:r>
            <a:r>
              <a:rPr lang="en-IN" sz="1400" b="1" i="1" dirty="0">
                <a:solidFill>
                  <a:schemeClr val="bg1"/>
                </a:solidFill>
              </a:rPr>
              <a:t>text, speech, and image-based AI assistance</a:t>
            </a:r>
            <a:r>
              <a:rPr lang="en-IN" sz="1400" i="1" dirty="0">
                <a:solidFill>
                  <a:schemeClr val="bg1"/>
                </a:solidFill>
              </a:rPr>
              <a:t>.</a:t>
            </a:r>
            <a:endParaRPr lang="en-US" sz="1250" i="1" dirty="0">
              <a:solidFill>
                <a:schemeClr val="bg1"/>
              </a:solidFill>
            </a:endParaRPr>
          </a:p>
        </p:txBody>
      </p:sp>
      <p:sp>
        <p:nvSpPr>
          <p:cNvPr id="31" name="Text 27"/>
          <p:cNvSpPr txBox="1"/>
          <p:nvPr/>
        </p:nvSpPr>
        <p:spPr>
          <a:xfrm>
            <a:off x="6693408" y="3549701"/>
            <a:ext cx="4206240" cy="10666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400" b="1" i="1" dirty="0">
                <a:solidFill>
                  <a:schemeClr val="bg1"/>
                </a:solidFill>
              </a:rPr>
              <a:t>SDG 10 – Reduced Inequalities:</a:t>
            </a:r>
            <a:r>
              <a:rPr lang="en-IN" sz="1400" i="1" dirty="0">
                <a:solidFill>
                  <a:schemeClr val="bg1"/>
                </a:solidFill>
              </a:rPr>
              <a:t> Makes health information more accessible through </a:t>
            </a:r>
            <a:r>
              <a:rPr lang="en-IN" sz="1400" b="1" i="1" dirty="0">
                <a:solidFill>
                  <a:schemeClr val="bg1"/>
                </a:solidFill>
              </a:rPr>
              <a:t>multimodal and voice-based interaction</a:t>
            </a:r>
            <a:r>
              <a:rPr lang="en-IN" sz="1400" i="1" dirty="0">
                <a:solidFill>
                  <a:schemeClr val="bg1"/>
                </a:solidFill>
              </a:rPr>
              <a:t>.</a:t>
            </a:r>
            <a:endParaRPr lang="en-US" sz="1250" i="1" dirty="0">
              <a:solidFill>
                <a:schemeClr val="bg1"/>
              </a:solidFill>
            </a:endParaRPr>
          </a:p>
        </p:txBody>
      </p:sp>
      <p:sp>
        <p:nvSpPr>
          <p:cNvPr id="34" name="Text 30"/>
          <p:cNvSpPr txBox="1"/>
          <p:nvPr/>
        </p:nvSpPr>
        <p:spPr>
          <a:xfrm>
            <a:off x="6693408" y="470916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400" b="1" i="1" dirty="0">
                <a:solidFill>
                  <a:schemeClr val="bg1"/>
                </a:solidFill>
              </a:rPr>
              <a:t>SDG 9 – Industry, Innovation &amp; Infrastructure: Applies LLMs, RAG, multimodal AI, and speech technology to healthcare.</a:t>
            </a:r>
            <a:endParaRPr lang="en-US" sz="1250" b="1" i="1" dirty="0">
              <a:solidFill>
                <a:schemeClr val="bg1"/>
              </a:solidFill>
            </a:endParaRPr>
          </a:p>
        </p:txBody>
      </p:sp>
      <p:sp>
        <p:nvSpPr>
          <p:cNvPr id="38" name="Text 3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90059-9E2A-6DD4-866E-86ACED34C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16D7487-4675-C6EC-FA1C-C49D6CA6C71D}"/>
              </a:ext>
            </a:extLst>
          </p:cNvPr>
          <p:cNvSpPr txBox="1"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Core Workflows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2E199095-7287-58F7-62F5-3A88CBBE9065}"/>
              </a:ext>
            </a:extLst>
          </p:cNvPr>
          <p:cNvSpPr txBox="1"/>
          <p:nvPr/>
        </p:nvSpPr>
        <p:spPr>
          <a:xfrm>
            <a:off x="548640" y="9326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two complementary ways to interact with the assistant</a:t>
            </a:r>
            <a:endParaRPr lang="en-US" sz="14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314DFEC-0205-E533-795C-6C7E1DC29BBC}"/>
              </a:ext>
            </a:extLst>
          </p:cNvPr>
          <p:cNvSpPr/>
          <p:nvPr/>
        </p:nvSpPr>
        <p:spPr>
          <a:xfrm>
            <a:off x="548640" y="1554480"/>
            <a:ext cx="5212080" cy="4572000"/>
          </a:xfrm>
          <a:prstGeom prst="roundRect">
            <a:avLst>
              <a:gd name="adj" fmla="val 2400"/>
            </a:avLst>
          </a:prstGeom>
          <a:solidFill>
            <a:srgbClr val="EAF4F4"/>
          </a:solidFill>
          <a:ln/>
          <a:effectLst>
            <a:outerShdw blurRad="1016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EA11AC5-151B-DAC3-EE3D-33BA668248A4}"/>
              </a:ext>
            </a:extLst>
          </p:cNvPr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6" name="Image 0" descr="/home/claude/medassist/icons/book_white.png">
            <a:extLst>
              <a:ext uri="{FF2B5EF4-FFF2-40B4-BE49-F238E27FC236}">
                <a16:creationId xmlns:a16="http://schemas.microsoft.com/office/drawing/2014/main" id="{96FCAB47-08CC-E6CE-BC33-A4B8F69C7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F02F1808-9A8D-0415-2C0F-211231802976}"/>
              </a:ext>
            </a:extLst>
          </p:cNvPr>
          <p:cNvSpPr txBox="1"/>
          <p:nvPr/>
        </p:nvSpPr>
        <p:spPr>
          <a:xfrm>
            <a:off x="1691640" y="190195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Medical Chat</a:t>
            </a:r>
            <a:endParaRPr lang="en-US" sz="18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BB8380F-B71E-14BF-0771-24A54F578968}"/>
              </a:ext>
            </a:extLst>
          </p:cNvPr>
          <p:cNvSpPr txBox="1"/>
          <p:nvPr/>
        </p:nvSpPr>
        <p:spPr>
          <a:xfrm>
            <a:off x="169164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A5C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RAG-based knowledge retrieval</a:t>
            </a:r>
            <a:endParaRPr lang="en-US" sz="12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A86BA87E-831A-B2D4-8FA6-474151F130D9}"/>
              </a:ext>
            </a:extLst>
          </p:cNvPr>
          <p:cNvSpPr/>
          <p:nvPr/>
        </p:nvSpPr>
        <p:spPr>
          <a:xfrm>
            <a:off x="868680" y="278892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B8B4B81-10F7-CCF6-8A51-DDDF6FFE680B}"/>
              </a:ext>
            </a:extLst>
          </p:cNvPr>
          <p:cNvSpPr txBox="1"/>
          <p:nvPr/>
        </p:nvSpPr>
        <p:spPr>
          <a:xfrm>
            <a:off x="868680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21F53D90-A819-D958-DFBF-1CBDAAA13F6E}"/>
              </a:ext>
            </a:extLst>
          </p:cNvPr>
          <p:cNvSpPr txBox="1"/>
          <p:nvPr/>
        </p:nvSpPr>
        <p:spPr>
          <a:xfrm>
            <a:off x="1298448" y="274320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 a medical question (e.g. "What is jaundice?")</a:t>
            </a:r>
            <a:endParaRPr lang="en-US" sz="12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50CCB95D-24C5-89A5-2EA9-BA076CAC4533}"/>
              </a:ext>
            </a:extLst>
          </p:cNvPr>
          <p:cNvSpPr/>
          <p:nvPr/>
        </p:nvSpPr>
        <p:spPr>
          <a:xfrm>
            <a:off x="868680" y="356616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8A709DC-F5D6-E389-CCA6-71CB49811FC8}"/>
              </a:ext>
            </a:extLst>
          </p:cNvPr>
          <p:cNvSpPr txBox="1"/>
          <p:nvPr/>
        </p:nvSpPr>
        <p:spPr>
          <a:xfrm>
            <a:off x="8686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D2234D8-5D83-7175-8ACF-D3656F681A89}"/>
              </a:ext>
            </a:extLst>
          </p:cNvPr>
          <p:cNvSpPr txBox="1"/>
          <p:nvPr/>
        </p:nvSpPr>
        <p:spPr>
          <a:xfrm>
            <a:off x="1298448" y="35204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embedded via Sentence Transformers</a:t>
            </a:r>
            <a:endParaRPr lang="en-US" sz="125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155BE063-D246-698B-DC28-04CA5F913AB5}"/>
              </a:ext>
            </a:extLst>
          </p:cNvPr>
          <p:cNvSpPr/>
          <p:nvPr/>
        </p:nvSpPr>
        <p:spPr>
          <a:xfrm>
            <a:off x="868680" y="434340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18734F42-BA6E-B13D-1089-2023470B87D3}"/>
              </a:ext>
            </a:extLst>
          </p:cNvPr>
          <p:cNvSpPr txBox="1"/>
          <p:nvPr/>
        </p:nvSpPr>
        <p:spPr>
          <a:xfrm>
            <a:off x="868680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6F2D2B75-45FA-1C22-5EA7-4E635E0CA7E1}"/>
              </a:ext>
            </a:extLst>
          </p:cNvPr>
          <p:cNvSpPr txBox="1"/>
          <p:nvPr/>
        </p:nvSpPr>
        <p:spPr>
          <a:xfrm>
            <a:off x="1298448" y="429768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vector search finds top-k relevant documents</a:t>
            </a:r>
            <a:endParaRPr lang="en-US" sz="125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0F553AF2-FF52-C98B-40B0-E51D4F216850}"/>
              </a:ext>
            </a:extLst>
          </p:cNvPr>
          <p:cNvSpPr/>
          <p:nvPr/>
        </p:nvSpPr>
        <p:spPr>
          <a:xfrm>
            <a:off x="868680" y="512064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AB895193-BFFF-1356-504A-163122C68E94}"/>
              </a:ext>
            </a:extLst>
          </p:cNvPr>
          <p:cNvSpPr txBox="1"/>
          <p:nvPr/>
        </p:nvSpPr>
        <p:spPr>
          <a:xfrm>
            <a:off x="86868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C616E41D-F7C7-D44F-144C-6FDA544D6198}"/>
              </a:ext>
            </a:extLst>
          </p:cNvPr>
          <p:cNvSpPr txBox="1"/>
          <p:nvPr/>
        </p:nvSpPr>
        <p:spPr>
          <a:xfrm>
            <a:off x="1298448" y="507492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generates a grounded, sourced answer</a:t>
            </a:r>
            <a:endParaRPr lang="en-US" sz="1250" dirty="0"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161A9014-EA31-0520-C957-93BAC2FC9E05}"/>
              </a:ext>
            </a:extLst>
          </p:cNvPr>
          <p:cNvSpPr/>
          <p:nvPr/>
        </p:nvSpPr>
        <p:spPr>
          <a:xfrm>
            <a:off x="5943600" y="1554480"/>
            <a:ext cx="5212080" cy="4572000"/>
          </a:xfrm>
          <a:prstGeom prst="roundRect">
            <a:avLst>
              <a:gd name="adj" fmla="val 2400"/>
            </a:avLst>
          </a:prstGeom>
          <a:solidFill>
            <a:srgbClr val="132A46"/>
          </a:solidFill>
          <a:ln/>
          <a:effectLst>
            <a:outerShdw blurRad="101600" dist="381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A75511A4-1CFC-A107-3D21-A235A9559509}"/>
              </a:ext>
            </a:extLst>
          </p:cNvPr>
          <p:cNvSpPr/>
          <p:nvPr/>
        </p:nvSpPr>
        <p:spPr>
          <a:xfrm>
            <a:off x="6263640" y="1874520"/>
            <a:ext cx="640080" cy="640080"/>
          </a:xfrm>
          <a:prstGeom prst="ellipse">
            <a:avLst/>
          </a:prstGeom>
          <a:solidFill>
            <a:srgbClr val="4FD1C5"/>
          </a:solidFill>
          <a:ln/>
        </p:spPr>
      </p:sp>
      <p:pic>
        <p:nvPicPr>
          <p:cNvPr id="23" name="Image 1" descr="/home/claude/medassist/icons/image_white.png">
            <a:extLst>
              <a:ext uri="{FF2B5EF4-FFF2-40B4-BE49-F238E27FC236}">
                <a16:creationId xmlns:a16="http://schemas.microsoft.com/office/drawing/2014/main" id="{B08DAB5F-C0BD-3CA7-7BA7-8A1879792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7259" y="2028139"/>
            <a:ext cx="332842" cy="332842"/>
          </a:xfrm>
          <a:prstGeom prst="rect">
            <a:avLst/>
          </a:prstGeom>
        </p:spPr>
      </p:pic>
      <p:sp>
        <p:nvSpPr>
          <p:cNvPr id="24" name="Text 20">
            <a:extLst>
              <a:ext uri="{FF2B5EF4-FFF2-40B4-BE49-F238E27FC236}">
                <a16:creationId xmlns:a16="http://schemas.microsoft.com/office/drawing/2014/main" id="{1BBE6C27-11B3-0101-8409-D76CB3700DDD}"/>
              </a:ext>
            </a:extLst>
          </p:cNvPr>
          <p:cNvSpPr txBox="1"/>
          <p:nvPr/>
        </p:nvSpPr>
        <p:spPr>
          <a:xfrm>
            <a:off x="7086600" y="190195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180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6BFCBAC7-C06D-CBFD-08AF-5143AD918A6C}"/>
              </a:ext>
            </a:extLst>
          </p:cNvPr>
          <p:cNvSpPr txBox="1"/>
          <p:nvPr/>
        </p:nvSpPr>
        <p:spPr>
          <a:xfrm>
            <a:off x="70866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+ voice analysis</a:t>
            </a:r>
            <a:endParaRPr lang="en-US" sz="1200" dirty="0"/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E84D6EAA-B6C2-DA8E-82C4-DAE0CBC84366}"/>
              </a:ext>
            </a:extLst>
          </p:cNvPr>
          <p:cNvSpPr/>
          <p:nvPr/>
        </p:nvSpPr>
        <p:spPr>
          <a:xfrm>
            <a:off x="6263640" y="278892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2C1993EB-76FB-F73E-6DEF-43D7AD8725AA}"/>
              </a:ext>
            </a:extLst>
          </p:cNvPr>
          <p:cNvSpPr txBox="1"/>
          <p:nvPr/>
        </p:nvSpPr>
        <p:spPr>
          <a:xfrm>
            <a:off x="6263640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29C777BC-5F4A-2966-6426-F63AE67B1B58}"/>
              </a:ext>
            </a:extLst>
          </p:cNvPr>
          <p:cNvSpPr txBox="1"/>
          <p:nvPr/>
        </p:nvSpPr>
        <p:spPr>
          <a:xfrm>
            <a:off x="6693408" y="274320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provides a voice note and/or a medical image</a:t>
            </a:r>
            <a:endParaRPr lang="en-US" sz="1250" dirty="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FAE06551-4373-D195-5CB2-568B02640036}"/>
              </a:ext>
            </a:extLst>
          </p:cNvPr>
          <p:cNvSpPr/>
          <p:nvPr/>
        </p:nvSpPr>
        <p:spPr>
          <a:xfrm>
            <a:off x="6263640" y="356616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872B3474-06D6-91DC-0836-51C5556B04AE}"/>
              </a:ext>
            </a:extLst>
          </p:cNvPr>
          <p:cNvSpPr txBox="1"/>
          <p:nvPr/>
        </p:nvSpPr>
        <p:spPr>
          <a:xfrm>
            <a:off x="626364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2C702256-8265-FF78-A299-641181884654}"/>
              </a:ext>
            </a:extLst>
          </p:cNvPr>
          <p:cNvSpPr txBox="1"/>
          <p:nvPr/>
        </p:nvSpPr>
        <p:spPr>
          <a:xfrm>
            <a:off x="6693408" y="35204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transcribes audio; vision-language model reads the image</a:t>
            </a:r>
            <a:endParaRPr lang="en-US" sz="125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48A6BBCE-4995-BD65-A2FF-77D1B07F3021}"/>
              </a:ext>
            </a:extLst>
          </p:cNvPr>
          <p:cNvSpPr/>
          <p:nvPr/>
        </p:nvSpPr>
        <p:spPr>
          <a:xfrm>
            <a:off x="6263640" y="434340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34613A90-C57D-A67A-1411-F8594432E07F}"/>
              </a:ext>
            </a:extLst>
          </p:cNvPr>
          <p:cNvSpPr txBox="1"/>
          <p:nvPr/>
        </p:nvSpPr>
        <p:spPr>
          <a:xfrm>
            <a:off x="6263640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BAE45748-E1E6-B5E0-D5E2-412A22C3C730}"/>
              </a:ext>
            </a:extLst>
          </p:cNvPr>
          <p:cNvSpPr txBox="1"/>
          <p:nvPr/>
        </p:nvSpPr>
        <p:spPr>
          <a:xfrm>
            <a:off x="6693408" y="429768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text + image context sent to the LLM</a:t>
            </a:r>
            <a:endParaRPr lang="en-US" sz="1250" dirty="0"/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A7B66B97-78C5-DA76-3AF0-1910DCFF6D70}"/>
              </a:ext>
            </a:extLst>
          </p:cNvPr>
          <p:cNvSpPr/>
          <p:nvPr/>
        </p:nvSpPr>
        <p:spPr>
          <a:xfrm>
            <a:off x="6263640" y="512064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9CBCC2CB-2430-9078-457C-0D3981C95DB9}"/>
              </a:ext>
            </a:extLst>
          </p:cNvPr>
          <p:cNvSpPr txBox="1"/>
          <p:nvPr/>
        </p:nvSpPr>
        <p:spPr>
          <a:xfrm>
            <a:off x="626364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811F47BE-FBFA-AE40-2FC5-6C5842CB6FAD}"/>
              </a:ext>
            </a:extLst>
          </p:cNvPr>
          <p:cNvSpPr txBox="1"/>
          <p:nvPr/>
        </p:nvSpPr>
        <p:spPr>
          <a:xfrm>
            <a:off x="6693408" y="507492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Doctor's response returned as text and synthesized speech</a:t>
            </a:r>
            <a:endParaRPr lang="en-US" sz="125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BAB3A4A9-DE1A-42A3-7E82-DF2B64DA095C}"/>
              </a:ext>
            </a:extLst>
          </p:cNvPr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900" dirty="0"/>
          </a:p>
        </p:txBody>
      </p:sp>
      <p:sp>
        <p:nvSpPr>
          <p:cNvPr id="39" name="Text 35">
            <a:extLst>
              <a:ext uri="{FF2B5EF4-FFF2-40B4-BE49-F238E27FC236}">
                <a16:creationId xmlns:a16="http://schemas.microsoft.com/office/drawing/2014/main" id="{343B0C84-3BCC-86B0-9DC5-16F476FD8437}"/>
              </a:ext>
            </a:extLst>
          </p:cNvPr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178825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A617D-BAC8-0705-6E1C-F60A381AA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E40B172-8017-4C01-F3B4-7F0D0021B811}"/>
              </a:ext>
            </a:extLst>
          </p:cNvPr>
          <p:cNvSpPr txBox="1"/>
          <p:nvPr/>
        </p:nvSpPr>
        <p:spPr>
          <a:xfrm>
            <a:off x="566928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General Medical Chat Interface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EBDEE38-E0F9-5D22-C975-79E89245AAB2}"/>
              </a:ext>
            </a:extLst>
          </p:cNvPr>
          <p:cNvSpPr txBox="1"/>
          <p:nvPr/>
        </p:nvSpPr>
        <p:spPr>
          <a:xfrm>
            <a:off x="548640" y="9326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>
                <a:solidFill>
                  <a:srgbClr val="0A5C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RAG-based knowledge retrieval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A33E6CF-1FEC-60FC-9CFA-E3A2573C5F80}"/>
              </a:ext>
            </a:extLst>
          </p:cNvPr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6" name="Image 0" descr="/home/claude/medassist/icons/book_white.png">
            <a:extLst>
              <a:ext uri="{FF2B5EF4-FFF2-40B4-BE49-F238E27FC236}">
                <a16:creationId xmlns:a16="http://schemas.microsoft.com/office/drawing/2014/main" id="{C99DF222-9EB5-59AC-DFF3-E3EB01B67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0BAADF74-3E17-5294-EF37-F9C3A6B6C962}"/>
              </a:ext>
            </a:extLst>
          </p:cNvPr>
          <p:cNvSpPr txBox="1"/>
          <p:nvPr/>
        </p:nvSpPr>
        <p:spPr>
          <a:xfrm>
            <a:off x="1691640" y="190195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</a:t>
            </a:r>
            <a:r>
              <a:rPr lang="en-US" sz="1800" b="1" dirty="0" err="1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Mdical</a:t>
            </a:r>
            <a:r>
              <a:rPr lang="en-US" sz="18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Chat</a:t>
            </a:r>
            <a:endParaRPr lang="en-US" sz="18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19C21505-3415-D8CE-6356-D8D1FE6564B6}"/>
              </a:ext>
            </a:extLst>
          </p:cNvPr>
          <p:cNvSpPr txBox="1"/>
          <p:nvPr/>
        </p:nvSpPr>
        <p:spPr>
          <a:xfrm>
            <a:off x="169164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A5C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RAG-based knowledge retrieval</a:t>
            </a:r>
            <a:endParaRPr lang="en-US" sz="12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D34EC4A1-80FA-2567-8B2E-E548DC0593F1}"/>
              </a:ext>
            </a:extLst>
          </p:cNvPr>
          <p:cNvSpPr/>
          <p:nvPr/>
        </p:nvSpPr>
        <p:spPr>
          <a:xfrm>
            <a:off x="868680" y="278892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85090F6-C82D-1DF6-F1A8-97C72805F717}"/>
              </a:ext>
            </a:extLst>
          </p:cNvPr>
          <p:cNvSpPr txBox="1"/>
          <p:nvPr/>
        </p:nvSpPr>
        <p:spPr>
          <a:xfrm>
            <a:off x="868680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D7ACFB2A-F79C-0CA9-C69A-A9413D1DEA89}"/>
              </a:ext>
            </a:extLst>
          </p:cNvPr>
          <p:cNvSpPr txBox="1"/>
          <p:nvPr/>
        </p:nvSpPr>
        <p:spPr>
          <a:xfrm>
            <a:off x="1298448" y="274320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 a medical question (e.g. "What is jaundice?")</a:t>
            </a:r>
            <a:endParaRPr lang="en-US" sz="12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E58E19BF-3CB8-3CB3-34AC-F0E6F45F6890}"/>
              </a:ext>
            </a:extLst>
          </p:cNvPr>
          <p:cNvSpPr/>
          <p:nvPr/>
        </p:nvSpPr>
        <p:spPr>
          <a:xfrm>
            <a:off x="868680" y="356616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BA178094-8821-EE2D-1241-92F26D2A5098}"/>
              </a:ext>
            </a:extLst>
          </p:cNvPr>
          <p:cNvSpPr txBox="1"/>
          <p:nvPr/>
        </p:nvSpPr>
        <p:spPr>
          <a:xfrm>
            <a:off x="8686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A73131AB-BD8C-E587-8D37-469FE19AF4EE}"/>
              </a:ext>
            </a:extLst>
          </p:cNvPr>
          <p:cNvSpPr txBox="1"/>
          <p:nvPr/>
        </p:nvSpPr>
        <p:spPr>
          <a:xfrm>
            <a:off x="1298448" y="35204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embedded via Sentence Transformers</a:t>
            </a:r>
            <a:endParaRPr lang="en-US" sz="125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B7A864A4-E0F4-1DF0-5FB8-B49524283383}"/>
              </a:ext>
            </a:extLst>
          </p:cNvPr>
          <p:cNvSpPr/>
          <p:nvPr/>
        </p:nvSpPr>
        <p:spPr>
          <a:xfrm>
            <a:off x="868680" y="434340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15DD70C-4DED-CCA7-EA7D-B7BC311FBB1C}"/>
              </a:ext>
            </a:extLst>
          </p:cNvPr>
          <p:cNvSpPr txBox="1"/>
          <p:nvPr/>
        </p:nvSpPr>
        <p:spPr>
          <a:xfrm>
            <a:off x="868680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6B8E8682-92C9-6835-6D34-73FCB08A5D1B}"/>
              </a:ext>
            </a:extLst>
          </p:cNvPr>
          <p:cNvSpPr txBox="1"/>
          <p:nvPr/>
        </p:nvSpPr>
        <p:spPr>
          <a:xfrm>
            <a:off x="1298448" y="429768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vector search finds top-k relevant documents</a:t>
            </a:r>
            <a:endParaRPr lang="en-US" sz="125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83F0D484-C350-CF4A-A143-163405698004}"/>
              </a:ext>
            </a:extLst>
          </p:cNvPr>
          <p:cNvSpPr/>
          <p:nvPr/>
        </p:nvSpPr>
        <p:spPr>
          <a:xfrm>
            <a:off x="868680" y="512064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A3EF5356-E999-3CE3-EFF3-76AE1890AC14}"/>
              </a:ext>
            </a:extLst>
          </p:cNvPr>
          <p:cNvSpPr txBox="1"/>
          <p:nvPr/>
        </p:nvSpPr>
        <p:spPr>
          <a:xfrm>
            <a:off x="86868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E86BB17-CD22-552B-AD2B-7920BB7DAC31}"/>
              </a:ext>
            </a:extLst>
          </p:cNvPr>
          <p:cNvSpPr txBox="1"/>
          <p:nvPr/>
        </p:nvSpPr>
        <p:spPr>
          <a:xfrm>
            <a:off x="1298448" y="507492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generates a grounded, sourced answer</a:t>
            </a:r>
            <a:endParaRPr lang="en-US" sz="1250" dirty="0"/>
          </a:p>
        </p:txBody>
      </p:sp>
      <p:pic>
        <p:nvPicPr>
          <p:cNvPr id="23" name="Image 1" descr="/home/claude/medassist/icons/image_white.png">
            <a:extLst>
              <a:ext uri="{FF2B5EF4-FFF2-40B4-BE49-F238E27FC236}">
                <a16:creationId xmlns:a16="http://schemas.microsoft.com/office/drawing/2014/main" id="{4289F8EF-264D-1A62-8479-A7B212A52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7259" y="2028139"/>
            <a:ext cx="332842" cy="332842"/>
          </a:xfrm>
          <a:prstGeom prst="rect">
            <a:avLst/>
          </a:prstGeom>
        </p:spPr>
      </p:pic>
      <p:sp>
        <p:nvSpPr>
          <p:cNvPr id="24" name="Text 20">
            <a:extLst>
              <a:ext uri="{FF2B5EF4-FFF2-40B4-BE49-F238E27FC236}">
                <a16:creationId xmlns:a16="http://schemas.microsoft.com/office/drawing/2014/main" id="{67D12936-BD44-41C6-85FF-2F6A05D67B68}"/>
              </a:ext>
            </a:extLst>
          </p:cNvPr>
          <p:cNvSpPr txBox="1"/>
          <p:nvPr/>
        </p:nvSpPr>
        <p:spPr>
          <a:xfrm>
            <a:off x="7086600" y="190195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1800" dirty="0"/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EEB1E0DA-C5EA-BB0A-D83F-F88FB9EF34B9}"/>
              </a:ext>
            </a:extLst>
          </p:cNvPr>
          <p:cNvSpPr/>
          <p:nvPr/>
        </p:nvSpPr>
        <p:spPr>
          <a:xfrm>
            <a:off x="6263640" y="278892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E7BD4719-9FE6-1CC2-F6E0-404CAC8D6326}"/>
              </a:ext>
            </a:extLst>
          </p:cNvPr>
          <p:cNvSpPr txBox="1"/>
          <p:nvPr/>
        </p:nvSpPr>
        <p:spPr>
          <a:xfrm>
            <a:off x="6693408" y="274320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provides a voice note and/or a medical image</a:t>
            </a:r>
            <a:endParaRPr lang="en-US" sz="1250" dirty="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3B947E04-1B60-FA8F-8755-7F7AA194ED68}"/>
              </a:ext>
            </a:extLst>
          </p:cNvPr>
          <p:cNvSpPr/>
          <p:nvPr/>
        </p:nvSpPr>
        <p:spPr>
          <a:xfrm>
            <a:off x="6263640" y="356616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0C9D887C-1438-D2FD-0A7E-209997F5D7A3}"/>
              </a:ext>
            </a:extLst>
          </p:cNvPr>
          <p:cNvSpPr txBox="1"/>
          <p:nvPr/>
        </p:nvSpPr>
        <p:spPr>
          <a:xfrm>
            <a:off x="6693408" y="35204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</a:t>
            </a:r>
            <a:r>
              <a:rPr lang="en-US" sz="1250" dirty="0" err="1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transcibes</a:t>
            </a: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audio; vision-language model reads the image</a:t>
            </a:r>
            <a:endParaRPr lang="en-US" sz="125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0DB35641-88F1-10F2-36ED-40B4EDCBA58B}"/>
              </a:ext>
            </a:extLst>
          </p:cNvPr>
          <p:cNvSpPr/>
          <p:nvPr/>
        </p:nvSpPr>
        <p:spPr>
          <a:xfrm>
            <a:off x="6263640" y="434340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8FA87A02-1BA6-AF7F-B926-A37B42A6BE22}"/>
              </a:ext>
            </a:extLst>
          </p:cNvPr>
          <p:cNvSpPr txBox="1"/>
          <p:nvPr/>
        </p:nvSpPr>
        <p:spPr>
          <a:xfrm>
            <a:off x="6263640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7B40971B-D657-9B30-CD77-7B322559001A}"/>
              </a:ext>
            </a:extLst>
          </p:cNvPr>
          <p:cNvSpPr txBox="1"/>
          <p:nvPr/>
        </p:nvSpPr>
        <p:spPr>
          <a:xfrm>
            <a:off x="6693408" y="429768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text + image context sent to the LLM</a:t>
            </a:r>
            <a:endParaRPr lang="en-US" sz="1250" dirty="0"/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43BF1548-C758-E19A-4CA5-8344730CA60B}"/>
              </a:ext>
            </a:extLst>
          </p:cNvPr>
          <p:cNvSpPr/>
          <p:nvPr/>
        </p:nvSpPr>
        <p:spPr>
          <a:xfrm>
            <a:off x="6263640" y="512064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D3F961CA-E352-3C59-CE81-02BCC12C0F94}"/>
              </a:ext>
            </a:extLst>
          </p:cNvPr>
          <p:cNvSpPr txBox="1"/>
          <p:nvPr/>
        </p:nvSpPr>
        <p:spPr>
          <a:xfrm>
            <a:off x="626364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37204005-387E-FFBC-AC8A-CF5505B7C5CD}"/>
              </a:ext>
            </a:extLst>
          </p:cNvPr>
          <p:cNvSpPr txBox="1"/>
          <p:nvPr/>
        </p:nvSpPr>
        <p:spPr>
          <a:xfrm>
            <a:off x="6693408" y="507492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Doctor's response returned as text and synthesized speech</a:t>
            </a:r>
            <a:endParaRPr lang="en-US" sz="125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148E2775-99BC-5C5D-4FA8-840F03FB17F2}"/>
              </a:ext>
            </a:extLst>
          </p:cNvPr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900" dirty="0"/>
          </a:p>
        </p:txBody>
      </p:sp>
      <p:sp>
        <p:nvSpPr>
          <p:cNvPr id="39" name="Text 35">
            <a:extLst>
              <a:ext uri="{FF2B5EF4-FFF2-40B4-BE49-F238E27FC236}">
                <a16:creationId xmlns:a16="http://schemas.microsoft.com/office/drawing/2014/main" id="{D81208D0-78F5-B0C0-8C73-B797B79FDEDF}"/>
              </a:ext>
            </a:extLst>
          </p:cNvPr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A05836CB-EF33-2F01-ACF6-03DF2BB2B4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0" y="1324430"/>
            <a:ext cx="11026353" cy="5178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408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904C5-6304-F4E6-D372-60F320410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6455BEB-83E7-5975-9F79-9BB34FB5C11E}"/>
              </a:ext>
            </a:extLst>
          </p:cNvPr>
          <p:cNvSpPr txBox="1"/>
          <p:nvPr/>
        </p:nvSpPr>
        <p:spPr>
          <a:xfrm>
            <a:off x="566928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Multimodal Medical Assistant Interface 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62748B1-0B34-BEFA-59AA-86A0F57556C5}"/>
              </a:ext>
            </a:extLst>
          </p:cNvPr>
          <p:cNvSpPr txBox="1"/>
          <p:nvPr/>
        </p:nvSpPr>
        <p:spPr>
          <a:xfrm>
            <a:off x="548640" y="9326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i="1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+ voice analysis</a:t>
            </a:r>
            <a:endParaRPr lang="en-US" sz="14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5FA74A0-AAB0-E247-0E56-08A7DF13EFB0}"/>
              </a:ext>
            </a:extLst>
          </p:cNvPr>
          <p:cNvSpPr/>
          <p:nvPr/>
        </p:nvSpPr>
        <p:spPr>
          <a:xfrm>
            <a:off x="868680" y="187452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6" name="Image 0" descr="/home/claude/medassist/icons/book_white.png">
            <a:extLst>
              <a:ext uri="{FF2B5EF4-FFF2-40B4-BE49-F238E27FC236}">
                <a16:creationId xmlns:a16="http://schemas.microsoft.com/office/drawing/2014/main" id="{7763DFF9-C311-8ECE-2EAA-A5A7631A7B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2028139"/>
            <a:ext cx="332842" cy="332842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B8F730EC-3C5E-971F-0CAB-1B99FB2C8553}"/>
              </a:ext>
            </a:extLst>
          </p:cNvPr>
          <p:cNvSpPr txBox="1"/>
          <p:nvPr/>
        </p:nvSpPr>
        <p:spPr>
          <a:xfrm>
            <a:off x="1691640" y="190195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</a:t>
            </a:r>
            <a:r>
              <a:rPr lang="en-US" sz="1800" b="1" dirty="0" err="1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Mdical</a:t>
            </a:r>
            <a:r>
              <a:rPr lang="en-US" sz="18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Chat</a:t>
            </a:r>
            <a:endParaRPr lang="en-US" sz="18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F81660E-32A8-DED5-F0DC-8B6CD187A5C7}"/>
              </a:ext>
            </a:extLst>
          </p:cNvPr>
          <p:cNvSpPr txBox="1"/>
          <p:nvPr/>
        </p:nvSpPr>
        <p:spPr>
          <a:xfrm>
            <a:off x="169164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A5C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RAG-based knowledge retrieval</a:t>
            </a:r>
            <a:endParaRPr lang="en-US" sz="12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AF517AD-4C97-2105-2F6E-09FF05579F63}"/>
              </a:ext>
            </a:extLst>
          </p:cNvPr>
          <p:cNvSpPr/>
          <p:nvPr/>
        </p:nvSpPr>
        <p:spPr>
          <a:xfrm>
            <a:off x="868680" y="278892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A5FF2A12-179D-40AF-8BC0-D58FD4D0F24A}"/>
              </a:ext>
            </a:extLst>
          </p:cNvPr>
          <p:cNvSpPr txBox="1"/>
          <p:nvPr/>
        </p:nvSpPr>
        <p:spPr>
          <a:xfrm>
            <a:off x="868680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88050F5-C4CD-4E95-D500-CACE1B632C12}"/>
              </a:ext>
            </a:extLst>
          </p:cNvPr>
          <p:cNvSpPr txBox="1"/>
          <p:nvPr/>
        </p:nvSpPr>
        <p:spPr>
          <a:xfrm>
            <a:off x="1298448" y="274320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 a medical question (e.g. "What is jaundice?")</a:t>
            </a:r>
            <a:endParaRPr lang="en-US" sz="125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EC5AC25-929C-EAEF-CB06-9D6C8F65B68F}"/>
              </a:ext>
            </a:extLst>
          </p:cNvPr>
          <p:cNvSpPr/>
          <p:nvPr/>
        </p:nvSpPr>
        <p:spPr>
          <a:xfrm>
            <a:off x="868680" y="356616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AE6A056D-2796-E7B6-6B63-BC5E78A278AD}"/>
              </a:ext>
            </a:extLst>
          </p:cNvPr>
          <p:cNvSpPr txBox="1"/>
          <p:nvPr/>
        </p:nvSpPr>
        <p:spPr>
          <a:xfrm>
            <a:off x="868680" y="3566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0D2852-BE0C-5FD4-30E5-D5A238A40029}"/>
              </a:ext>
            </a:extLst>
          </p:cNvPr>
          <p:cNvSpPr txBox="1"/>
          <p:nvPr/>
        </p:nvSpPr>
        <p:spPr>
          <a:xfrm>
            <a:off x="1298448" y="35204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embedded via Sentence Transformers</a:t>
            </a:r>
            <a:endParaRPr lang="en-US" sz="125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BFFB6F5C-BF88-E0E3-3211-468322AB5B00}"/>
              </a:ext>
            </a:extLst>
          </p:cNvPr>
          <p:cNvSpPr/>
          <p:nvPr/>
        </p:nvSpPr>
        <p:spPr>
          <a:xfrm>
            <a:off x="868680" y="434340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B92B0BEE-A1C5-B03F-C9E8-221ECE566D5C}"/>
              </a:ext>
            </a:extLst>
          </p:cNvPr>
          <p:cNvSpPr txBox="1"/>
          <p:nvPr/>
        </p:nvSpPr>
        <p:spPr>
          <a:xfrm>
            <a:off x="868680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C0E57E7D-7A3B-B54B-DE6E-DAA63B3EC878}"/>
              </a:ext>
            </a:extLst>
          </p:cNvPr>
          <p:cNvSpPr txBox="1"/>
          <p:nvPr/>
        </p:nvSpPr>
        <p:spPr>
          <a:xfrm>
            <a:off x="1298448" y="429768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vector search finds top-k relevant documents</a:t>
            </a:r>
            <a:endParaRPr lang="en-US" sz="125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4BD1BB8D-24C6-4D1A-9CE9-870F8742940A}"/>
              </a:ext>
            </a:extLst>
          </p:cNvPr>
          <p:cNvSpPr/>
          <p:nvPr/>
        </p:nvSpPr>
        <p:spPr>
          <a:xfrm>
            <a:off x="868680" y="5120640"/>
            <a:ext cx="292608" cy="29260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6FF57B39-9DC5-E32A-386C-7846D40D98C5}"/>
              </a:ext>
            </a:extLst>
          </p:cNvPr>
          <p:cNvSpPr txBox="1"/>
          <p:nvPr/>
        </p:nvSpPr>
        <p:spPr>
          <a:xfrm>
            <a:off x="86868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8931752-EC25-63FC-149F-17E2B0B65BF4}"/>
              </a:ext>
            </a:extLst>
          </p:cNvPr>
          <p:cNvSpPr txBox="1"/>
          <p:nvPr/>
        </p:nvSpPr>
        <p:spPr>
          <a:xfrm>
            <a:off x="1298448" y="507492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generates a grounded, sourced answer</a:t>
            </a:r>
            <a:endParaRPr lang="en-US" sz="1250" dirty="0"/>
          </a:p>
        </p:txBody>
      </p:sp>
      <p:pic>
        <p:nvPicPr>
          <p:cNvPr id="23" name="Image 1" descr="/home/claude/medassist/icons/image_white.png">
            <a:extLst>
              <a:ext uri="{FF2B5EF4-FFF2-40B4-BE49-F238E27FC236}">
                <a16:creationId xmlns:a16="http://schemas.microsoft.com/office/drawing/2014/main" id="{99BF2B82-CA51-5C2B-FD34-70DD5255E3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7259" y="2028139"/>
            <a:ext cx="332842" cy="332842"/>
          </a:xfrm>
          <a:prstGeom prst="rect">
            <a:avLst/>
          </a:prstGeom>
        </p:spPr>
      </p:pic>
      <p:sp>
        <p:nvSpPr>
          <p:cNvPr id="24" name="Text 20">
            <a:extLst>
              <a:ext uri="{FF2B5EF4-FFF2-40B4-BE49-F238E27FC236}">
                <a16:creationId xmlns:a16="http://schemas.microsoft.com/office/drawing/2014/main" id="{A253FAD0-34B6-548C-F419-BAD42DE0D5DF}"/>
              </a:ext>
            </a:extLst>
          </p:cNvPr>
          <p:cNvSpPr txBox="1"/>
          <p:nvPr/>
        </p:nvSpPr>
        <p:spPr>
          <a:xfrm>
            <a:off x="7086600" y="190195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1800" dirty="0"/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5EE84019-49C1-ED51-2645-A9E24CB7BDC2}"/>
              </a:ext>
            </a:extLst>
          </p:cNvPr>
          <p:cNvSpPr/>
          <p:nvPr/>
        </p:nvSpPr>
        <p:spPr>
          <a:xfrm>
            <a:off x="6263640" y="278892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FE742FFD-B565-94C3-52A0-C0B3A698909F}"/>
              </a:ext>
            </a:extLst>
          </p:cNvPr>
          <p:cNvSpPr txBox="1"/>
          <p:nvPr/>
        </p:nvSpPr>
        <p:spPr>
          <a:xfrm>
            <a:off x="6693408" y="274320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provides a voice note and/or a medical image</a:t>
            </a:r>
            <a:endParaRPr lang="en-US" sz="1250" dirty="0"/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8C9C72D7-4A5C-CA52-1F27-ADC0A910197D}"/>
              </a:ext>
            </a:extLst>
          </p:cNvPr>
          <p:cNvSpPr/>
          <p:nvPr/>
        </p:nvSpPr>
        <p:spPr>
          <a:xfrm>
            <a:off x="6263640" y="356616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BF6471AC-324B-E2AC-72D8-E6F3A9368E8B}"/>
              </a:ext>
            </a:extLst>
          </p:cNvPr>
          <p:cNvSpPr txBox="1"/>
          <p:nvPr/>
        </p:nvSpPr>
        <p:spPr>
          <a:xfrm>
            <a:off x="6693408" y="35204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</a:t>
            </a:r>
            <a:r>
              <a:rPr lang="en-US" sz="1250" dirty="0" err="1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transcibes</a:t>
            </a: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audio; vision-language model reads the image</a:t>
            </a:r>
            <a:endParaRPr lang="en-US" sz="1250" dirty="0"/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D9E2B882-D16C-56E2-94A9-5CD1A41F049C}"/>
              </a:ext>
            </a:extLst>
          </p:cNvPr>
          <p:cNvSpPr/>
          <p:nvPr/>
        </p:nvSpPr>
        <p:spPr>
          <a:xfrm>
            <a:off x="6263640" y="434340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9AF2B6B5-D60E-6B22-00FC-3A29A235812F}"/>
              </a:ext>
            </a:extLst>
          </p:cNvPr>
          <p:cNvSpPr txBox="1"/>
          <p:nvPr/>
        </p:nvSpPr>
        <p:spPr>
          <a:xfrm>
            <a:off x="6263640" y="43434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E6D30301-6FAB-0BF6-C4D6-0641B32BE291}"/>
              </a:ext>
            </a:extLst>
          </p:cNvPr>
          <p:cNvSpPr txBox="1"/>
          <p:nvPr/>
        </p:nvSpPr>
        <p:spPr>
          <a:xfrm>
            <a:off x="6693408" y="429768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text + image context sent to the LLM</a:t>
            </a:r>
            <a:endParaRPr lang="en-US" sz="1250" dirty="0"/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C1BD9906-7B85-57B8-05D8-C792E2029A9B}"/>
              </a:ext>
            </a:extLst>
          </p:cNvPr>
          <p:cNvSpPr/>
          <p:nvPr/>
        </p:nvSpPr>
        <p:spPr>
          <a:xfrm>
            <a:off x="6263640" y="5120640"/>
            <a:ext cx="292608" cy="292608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1C19D9D4-4823-8448-10E8-CF1B36EF6117}"/>
              </a:ext>
            </a:extLst>
          </p:cNvPr>
          <p:cNvSpPr txBox="1"/>
          <p:nvPr/>
        </p:nvSpPr>
        <p:spPr>
          <a:xfrm>
            <a:off x="626364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C57A36B0-1767-C5E6-4766-A23649D56318}"/>
              </a:ext>
            </a:extLst>
          </p:cNvPr>
          <p:cNvSpPr txBox="1"/>
          <p:nvPr/>
        </p:nvSpPr>
        <p:spPr>
          <a:xfrm>
            <a:off x="6693408" y="507492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Doctor's response returned as text and synthesized speech</a:t>
            </a:r>
            <a:endParaRPr lang="en-US" sz="125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A7D673A8-CDB9-1E20-B511-871E1C384935}"/>
              </a:ext>
            </a:extLst>
          </p:cNvPr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900" dirty="0"/>
          </a:p>
        </p:txBody>
      </p:sp>
      <p:sp>
        <p:nvSpPr>
          <p:cNvPr id="39" name="Text 35">
            <a:extLst>
              <a:ext uri="{FF2B5EF4-FFF2-40B4-BE49-F238E27FC236}">
                <a16:creationId xmlns:a16="http://schemas.microsoft.com/office/drawing/2014/main" id="{1ADE2587-F777-EF3A-FD2B-8720FF69B7E5}"/>
              </a:ext>
            </a:extLst>
          </p:cNvPr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EFF856-A90B-702B-4FB6-138F157B12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693" y="1308446"/>
            <a:ext cx="11286802" cy="5265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9674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1 — General Medical Chat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pipeline: from a plain-language question to a grounded answer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10607040" cy="896112"/>
          </a:xfrm>
          <a:prstGeom prst="roundRect">
            <a:avLst>
              <a:gd name="adj" fmla="val 10204"/>
            </a:avLst>
          </a:prstGeom>
          <a:solidFill>
            <a:srgbClr val="EAF4F4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865376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6" name="Image 0" descr="/home/claude/medassist/icons/comme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7514" y="1997050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83080" y="1801368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Question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167128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is jaundice?" — a natural-language medical query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515600" y="1691640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FE3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pic>
        <p:nvPicPr>
          <p:cNvPr id="10" name="Image 1" descr="/home/claude/medassist/icons/chevro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2615184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980176" y="2569464"/>
            <a:ext cx="292608" cy="292608"/>
          </a:xfrm>
          <a:prstGeom prst="rect">
            <a:avLst/>
          </a:prstGeom>
          <a:solidFill>
            <a:srgbClr val="0E7C7B"/>
          </a:solidFill>
          <a:ln/>
        </p:spPr>
      </p:sp>
      <p:pic>
        <p:nvPicPr>
          <p:cNvPr id="12" name="Image 2" descr="/home/claude/medassist/icons/chevro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2472" y="2642616"/>
            <a:ext cx="128016" cy="12801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822960" y="2770632"/>
            <a:ext cx="10607040" cy="896112"/>
          </a:xfrm>
          <a:prstGeom prst="roundRect">
            <a:avLst>
              <a:gd name="adj" fmla="val 10204"/>
            </a:avLst>
          </a:prstGeom>
          <a:solidFill>
            <a:srgbClr val="F4F7F7"/>
          </a:solidFill>
          <a:ln/>
        </p:spPr>
      </p:sp>
      <p:sp>
        <p:nvSpPr>
          <p:cNvPr id="14" name="Shape 9"/>
          <p:cNvSpPr/>
          <p:nvPr/>
        </p:nvSpPr>
        <p:spPr>
          <a:xfrm>
            <a:off x="1005840" y="2944368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5" name="Image 3" descr="/home/claude/medassist/icons/sitem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514" y="3076042"/>
            <a:ext cx="285293" cy="285293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783080" y="2880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Embedding</a:t>
            </a:r>
            <a:endParaRPr lang="en-US" sz="1600" dirty="0"/>
          </a:p>
        </p:txBody>
      </p:sp>
      <p:sp>
        <p:nvSpPr>
          <p:cNvPr id="17" name="Text 11"/>
          <p:cNvSpPr txBox="1"/>
          <p:nvPr/>
        </p:nvSpPr>
        <p:spPr>
          <a:xfrm>
            <a:off x="1783080" y="324612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 Transformers (all-MiniLM-L6-v2) encodes the query</a:t>
            </a:r>
            <a:endParaRPr lang="en-US" sz="1250" dirty="0"/>
          </a:p>
        </p:txBody>
      </p:sp>
      <p:sp>
        <p:nvSpPr>
          <p:cNvPr id="18" name="Text 12"/>
          <p:cNvSpPr txBox="1"/>
          <p:nvPr/>
        </p:nvSpPr>
        <p:spPr>
          <a:xfrm>
            <a:off x="10515600" y="2770632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CE7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pic>
        <p:nvPicPr>
          <p:cNvPr id="19" name="Image 4" descr="/home/claude/medassist/icons/chevro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3694176"/>
            <a:ext cx="219456" cy="219456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5980176" y="3648456"/>
            <a:ext cx="292608" cy="292608"/>
          </a:xfrm>
          <a:prstGeom prst="rect">
            <a:avLst/>
          </a:prstGeom>
          <a:solidFill>
            <a:srgbClr val="0E7C7B"/>
          </a:solidFill>
          <a:ln/>
        </p:spPr>
      </p:sp>
      <p:pic>
        <p:nvPicPr>
          <p:cNvPr id="21" name="Image 5" descr="/home/claude/medassist/icons/chevro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2472" y="3721608"/>
            <a:ext cx="128016" cy="128016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822960" y="3849624"/>
            <a:ext cx="10607040" cy="896112"/>
          </a:xfrm>
          <a:prstGeom prst="roundRect">
            <a:avLst>
              <a:gd name="adj" fmla="val 10204"/>
            </a:avLst>
          </a:prstGeom>
          <a:solidFill>
            <a:srgbClr val="EAF4F4"/>
          </a:solidFill>
          <a:ln/>
        </p:spPr>
      </p:sp>
      <p:sp>
        <p:nvSpPr>
          <p:cNvPr id="23" name="Shape 15"/>
          <p:cNvSpPr/>
          <p:nvPr/>
        </p:nvSpPr>
        <p:spPr>
          <a:xfrm>
            <a:off x="1005840" y="4023360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4" name="Image 6" descr="/home/claude/medassist/icons/databas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7514" y="4155034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1783080" y="395935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Vector Database</a:t>
            </a:r>
            <a:endParaRPr lang="en-US" sz="1600" dirty="0"/>
          </a:p>
        </p:txBody>
      </p:sp>
      <p:sp>
        <p:nvSpPr>
          <p:cNvPr id="26" name="Text 17"/>
          <p:cNvSpPr txBox="1"/>
          <p:nvPr/>
        </p:nvSpPr>
        <p:spPr>
          <a:xfrm>
            <a:off x="1783080" y="4325112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retrieves top-k relevant medical documents</a:t>
            </a:r>
            <a:endParaRPr lang="en-US" sz="1250" dirty="0"/>
          </a:p>
        </p:txBody>
      </p:sp>
      <p:sp>
        <p:nvSpPr>
          <p:cNvPr id="27" name="Text 18"/>
          <p:cNvSpPr txBox="1"/>
          <p:nvPr/>
        </p:nvSpPr>
        <p:spPr>
          <a:xfrm>
            <a:off x="10515600" y="3849624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FE3E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pic>
        <p:nvPicPr>
          <p:cNvPr id="28" name="Image 7" descr="/home/claude/medassist/icons/chevro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4773168"/>
            <a:ext cx="219456" cy="219456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5980176" y="4727448"/>
            <a:ext cx="292608" cy="292608"/>
          </a:xfrm>
          <a:prstGeom prst="rect">
            <a:avLst/>
          </a:prstGeom>
          <a:solidFill>
            <a:srgbClr val="0E7C7B"/>
          </a:solidFill>
          <a:ln/>
        </p:spPr>
      </p:sp>
      <p:pic>
        <p:nvPicPr>
          <p:cNvPr id="30" name="Image 8" descr="/home/claude/medassist/icons/chevro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2472" y="4800600"/>
            <a:ext cx="128016" cy="128016"/>
          </a:xfrm>
          <a:prstGeom prst="rect">
            <a:avLst/>
          </a:prstGeom>
        </p:spPr>
      </p:pic>
      <p:sp>
        <p:nvSpPr>
          <p:cNvPr id="31" name="Shape 20"/>
          <p:cNvSpPr/>
          <p:nvPr/>
        </p:nvSpPr>
        <p:spPr>
          <a:xfrm>
            <a:off x="822960" y="4928616"/>
            <a:ext cx="10607040" cy="896112"/>
          </a:xfrm>
          <a:prstGeom prst="roundRect">
            <a:avLst>
              <a:gd name="adj" fmla="val 10204"/>
            </a:avLst>
          </a:prstGeom>
          <a:solidFill>
            <a:srgbClr val="F4F7F7"/>
          </a:solidFill>
          <a:ln/>
        </p:spPr>
      </p:sp>
      <p:sp>
        <p:nvSpPr>
          <p:cNvPr id="32" name="Shape 21"/>
          <p:cNvSpPr/>
          <p:nvPr/>
        </p:nvSpPr>
        <p:spPr>
          <a:xfrm>
            <a:off x="1005840" y="5102352"/>
            <a:ext cx="548640" cy="54864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3" name="Image 9" descr="/home/claude/medassist/icons/fil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7514" y="5234026"/>
            <a:ext cx="285293" cy="285293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1783080" y="5038344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</a:t>
            </a:r>
            <a:endParaRPr lang="en-US" sz="1600" dirty="0"/>
          </a:p>
        </p:txBody>
      </p:sp>
      <p:sp>
        <p:nvSpPr>
          <p:cNvPr id="35" name="Text 23"/>
          <p:cNvSpPr txBox="1"/>
          <p:nvPr/>
        </p:nvSpPr>
        <p:spPr>
          <a:xfrm>
            <a:off x="1783080" y="5404104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3 sources returned with metadata (source, page)</a:t>
            </a:r>
            <a:endParaRPr lang="en-US" sz="1250" dirty="0"/>
          </a:p>
        </p:txBody>
      </p:sp>
      <p:sp>
        <p:nvSpPr>
          <p:cNvPr id="36" name="Text 24"/>
          <p:cNvSpPr txBox="1"/>
          <p:nvPr/>
        </p:nvSpPr>
        <p:spPr>
          <a:xfrm>
            <a:off x="10515600" y="4928616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DCE7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37" name="Text 2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900" dirty="0"/>
          </a:p>
        </p:txBody>
      </p:sp>
      <p:sp>
        <p:nvSpPr>
          <p:cNvPr id="38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 — RAG Pipeline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that powers grounded, safe medical responses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5166360" cy="1965960"/>
          </a:xfrm>
          <a:prstGeom prst="roundRect">
            <a:avLst>
              <a:gd name="adj" fmla="val 4651"/>
            </a:avLst>
          </a:prstGeom>
          <a:solidFill>
            <a:srgbClr val="0A5C5B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196596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6" name="Image 0" descr="/home/claude/medassist/icons/cog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899" y="211957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198424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Configuration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2743200"/>
            <a:ext cx="4617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.env with a dedicated RAG_GROQ_API_KEY, separate from the main API key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09360" y="1691640"/>
            <a:ext cx="5166360" cy="1965960"/>
          </a:xfrm>
          <a:prstGeom prst="roundRect">
            <a:avLst>
              <a:gd name="adj" fmla="val 4651"/>
            </a:avLst>
          </a:prstGeom>
          <a:solidFill>
            <a:srgbClr val="0A5C5B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196596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1" name="Image 1" descr="/home/claude/medassist/icons/magic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211957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06640" y="198424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ChatGroq LLM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2743200"/>
            <a:ext cx="4617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openai/gpt-oss-20b · temperature 0.5 · max_tokens 512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3977640"/>
            <a:ext cx="5166360" cy="1965960"/>
          </a:xfrm>
          <a:prstGeom prst="roundRect">
            <a:avLst>
              <a:gd name="adj" fmla="val 4651"/>
            </a:avLst>
          </a:prstGeom>
          <a:solidFill>
            <a:srgbClr val="0A5C5B"/>
          </a:solidFill>
          <a:ln/>
        </p:spPr>
      </p:sp>
      <p:sp>
        <p:nvSpPr>
          <p:cNvPr id="15" name="Shape 11"/>
          <p:cNvSpPr/>
          <p:nvPr/>
        </p:nvSpPr>
        <p:spPr>
          <a:xfrm>
            <a:off x="1097280" y="425196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claude/medassist/icons/fil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0899" y="440557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27024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Template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097280" y="5029200"/>
            <a:ext cx="4617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medical guidance with retrieved context and safety instructions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09360" y="3977640"/>
            <a:ext cx="5166360" cy="1965960"/>
          </a:xfrm>
          <a:prstGeom prst="roundRect">
            <a:avLst>
              <a:gd name="adj" fmla="val 4651"/>
            </a:avLst>
          </a:prstGeom>
          <a:solidFill>
            <a:srgbClr val="0A5C5B"/>
          </a:solidFill>
          <a:ln/>
        </p:spPr>
      </p:sp>
      <p:sp>
        <p:nvSpPr>
          <p:cNvPr id="20" name="Shape 15"/>
          <p:cNvSpPr/>
          <p:nvPr/>
        </p:nvSpPr>
        <p:spPr>
          <a:xfrm>
            <a:off x="6583680" y="425196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1" name="Image 3" descr="/home/claude/medassist/icons/lin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440557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06640" y="4270248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Chain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583680" y="5029200"/>
            <a:ext cx="461772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create_retrieval_chain combines the retriever with the document chain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Output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user sees after the RAG pipeline completes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4297680"/>
          </a:xfrm>
          <a:prstGeom prst="roundRect">
            <a:avLst>
              <a:gd name="adj" fmla="val 2553"/>
            </a:avLst>
          </a:prstGeom>
          <a:solidFill>
            <a:srgbClr val="EAF4F4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6" name="Image 0" descr="/home/claude/medassist/icons/comme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216529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103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Response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68680" y="3118104"/>
            <a:ext cx="128016" cy="12801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143000" y="29535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retrieved medical knowledge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3803904"/>
            <a:ext cx="128016" cy="12801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143000" y="36393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plain-language explanations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68680" y="4489704"/>
            <a:ext cx="128016" cy="12801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143000" y="43251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inline source references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943600" y="1691640"/>
            <a:ext cx="5212080" cy="4297680"/>
          </a:xfrm>
          <a:prstGeom prst="roundRect">
            <a:avLst>
              <a:gd name="adj" fmla="val 2553"/>
            </a:avLst>
          </a:prstGeom>
          <a:solidFill>
            <a:srgbClr val="0E7C7B"/>
          </a:solidFill>
          <a:ln/>
        </p:spPr>
      </p:sp>
      <p:sp>
        <p:nvSpPr>
          <p:cNvPr id="15" name="Shape 12"/>
          <p:cNvSpPr/>
          <p:nvPr/>
        </p:nvSpPr>
        <p:spPr>
          <a:xfrm>
            <a:off x="6263640" y="2011680"/>
            <a:ext cx="640080" cy="640080"/>
          </a:xfrm>
          <a:prstGeom prst="ellipse">
            <a:avLst/>
          </a:prstGeom>
          <a:solidFill>
            <a:srgbClr val="0A5C5B"/>
          </a:solidFill>
          <a:ln/>
        </p:spPr>
      </p:sp>
      <p:pic>
        <p:nvPicPr>
          <p:cNvPr id="16" name="Image 1" descr="/home/claude/medassist/icons/fi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7259" y="2165299"/>
            <a:ext cx="332842" cy="33284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086600" y="21031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Display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6263640" y="311810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537960" y="29535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document name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6263640" y="380390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6537960" y="36393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page number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6263640" y="4489704"/>
            <a:ext cx="128016" cy="1280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6537960" y="4325112"/>
            <a:ext cx="4297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EAF4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preview of the retrieved content</a:t>
            </a:r>
            <a:endParaRPr lang="en-US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12648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cards are generated together for every user query, keeping answers transparent and traceable.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2 — Multimodal Assistant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412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patient voice + image to a spoken doctor's response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120640" cy="1234440"/>
          </a:xfrm>
          <a:prstGeom prst="roundRect">
            <a:avLst>
              <a:gd name="adj" fmla="val 7407"/>
            </a:avLst>
          </a:prstGeom>
          <a:solidFill>
            <a:srgbClr val="EAF4F4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664208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6" name="Image 0" descr="/home/claude/medassist/icons/mic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1817827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5361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Description (Audio)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190195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transcribes the patient's spoken symptoms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943600" y="1371600"/>
            <a:ext cx="5120640" cy="1234440"/>
          </a:xfrm>
          <a:prstGeom prst="roundRect">
            <a:avLst>
              <a:gd name="adj" fmla="val 7407"/>
            </a:avLst>
          </a:prstGeom>
          <a:solidFill>
            <a:srgbClr val="EAF4F4"/>
          </a:solidFill>
          <a:ln/>
        </p:spPr>
      </p:sp>
      <p:sp>
        <p:nvSpPr>
          <p:cNvPr id="10" name="Shape 7"/>
          <p:cNvSpPr/>
          <p:nvPr/>
        </p:nvSpPr>
        <p:spPr>
          <a:xfrm>
            <a:off x="6172200" y="1664208"/>
            <a:ext cx="640080" cy="64008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1" name="Image 1" descr="/home/claude/medassist/icons/imag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5819" y="1817827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995160" y="153619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Image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6995160" y="1901952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Vision-language model analyzes the image — the "brain of the doctor"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949544" y="2660904"/>
            <a:ext cx="292608" cy="274320"/>
          </a:xfrm>
          <a:prstGeom prst="rect">
            <a:avLst/>
          </a:prstGeom>
          <a:solidFill>
            <a:srgbClr val="0E7C7B"/>
          </a:solidFill>
          <a:ln/>
        </p:spPr>
      </p:sp>
      <p:pic>
        <p:nvPicPr>
          <p:cNvPr id="15" name="Image 2" descr="/home/claude/medassist/icons/chevro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696" y="2715768"/>
            <a:ext cx="146304" cy="16459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3044952"/>
            <a:ext cx="10607040" cy="685800"/>
          </a:xfrm>
          <a:prstGeom prst="roundRect">
            <a:avLst>
              <a:gd name="adj" fmla="val 13333"/>
            </a:avLst>
          </a:prstGeom>
          <a:solidFill>
            <a:srgbClr val="0A5C5B"/>
          </a:solidFill>
          <a:ln/>
        </p:spPr>
      </p:sp>
      <p:sp>
        <p:nvSpPr>
          <p:cNvPr id="17" name="Shape 12"/>
          <p:cNvSpPr/>
          <p:nvPr/>
        </p:nvSpPr>
        <p:spPr>
          <a:xfrm>
            <a:off x="731520" y="3154680"/>
            <a:ext cx="457200" cy="4572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8" name="Image 3" descr="/home/claude/medassist/icons/wav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" y="326440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371600" y="3044952"/>
            <a:ext cx="9509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 Input:  Patient transcript text + image analysis result, combined into one context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5949544" y="3785616"/>
            <a:ext cx="292608" cy="274320"/>
          </a:xfrm>
          <a:prstGeom prst="rect">
            <a:avLst/>
          </a:prstGeom>
          <a:solidFill>
            <a:srgbClr val="0E7C7B"/>
          </a:solidFill>
          <a:ln/>
        </p:spPr>
      </p:sp>
      <p:pic>
        <p:nvPicPr>
          <p:cNvPr id="21" name="Image 4" descr="/home/claude/medassist/icons/chevro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696" y="3840480"/>
            <a:ext cx="146304" cy="164592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548640" y="4169664"/>
            <a:ext cx="10607040" cy="685800"/>
          </a:xfrm>
          <a:prstGeom prst="roundRect">
            <a:avLst>
              <a:gd name="adj" fmla="val 13333"/>
            </a:avLst>
          </a:prstGeom>
          <a:solidFill>
            <a:srgbClr val="E8604C"/>
          </a:solidFill>
          <a:ln/>
        </p:spPr>
      </p:sp>
      <p:sp>
        <p:nvSpPr>
          <p:cNvPr id="23" name="Shape 16"/>
          <p:cNvSpPr/>
          <p:nvPr/>
        </p:nvSpPr>
        <p:spPr>
          <a:xfrm>
            <a:off x="731520" y="4279392"/>
            <a:ext cx="457200" cy="457200"/>
          </a:xfrm>
          <a:prstGeom prst="ellipse">
            <a:avLst/>
          </a:prstGeom>
          <a:solidFill>
            <a:srgbClr val="C24732"/>
          </a:solidFill>
          <a:ln/>
        </p:spPr>
      </p:sp>
      <p:pic>
        <p:nvPicPr>
          <p:cNvPr id="24" name="Image 5" descr="/home/claude/medassist/icons/robot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" y="4389120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1371600" y="4169664"/>
            <a:ext cx="9509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Doctor's Response — generated by the LLM (Groq) from the combined patient context</a:t>
            </a:r>
            <a:endParaRPr lang="en-US" sz="1350" dirty="0"/>
          </a:p>
        </p:txBody>
      </p:sp>
      <p:sp>
        <p:nvSpPr>
          <p:cNvPr id="26" name="Shape 18"/>
          <p:cNvSpPr/>
          <p:nvPr/>
        </p:nvSpPr>
        <p:spPr>
          <a:xfrm>
            <a:off x="5949544" y="4910328"/>
            <a:ext cx="292608" cy="274320"/>
          </a:xfrm>
          <a:prstGeom prst="rect">
            <a:avLst/>
          </a:prstGeom>
          <a:solidFill>
            <a:srgbClr val="0E7C7B"/>
          </a:solidFill>
          <a:ln/>
        </p:spPr>
      </p:sp>
      <p:pic>
        <p:nvPicPr>
          <p:cNvPr id="27" name="Image 6" descr="/home/claude/medassist/icons/chevron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696" y="4965192"/>
            <a:ext cx="146304" cy="164592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548640" y="5294376"/>
            <a:ext cx="3291840" cy="777240"/>
          </a:xfrm>
          <a:prstGeom prst="roundRect">
            <a:avLst>
              <a:gd name="adj" fmla="val 11765"/>
            </a:avLst>
          </a:prstGeom>
          <a:solidFill>
            <a:srgbClr val="132A46"/>
          </a:solidFill>
          <a:ln/>
        </p:spPr>
      </p:sp>
      <p:sp>
        <p:nvSpPr>
          <p:cNvPr id="29" name="Shape 20"/>
          <p:cNvSpPr/>
          <p:nvPr/>
        </p:nvSpPr>
        <p:spPr>
          <a:xfrm>
            <a:off x="713232" y="541324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0" name="Image 7" descr="/home/claude/medassist/icons/volum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3" y="5533949"/>
            <a:ext cx="261518" cy="261518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371600" y="5385816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</a:t>
            </a:r>
            <a:endParaRPr lang="en-US" sz="1250" dirty="0"/>
          </a:p>
        </p:txBody>
      </p:sp>
      <p:sp>
        <p:nvSpPr>
          <p:cNvPr id="32" name="Text 22"/>
          <p:cNvSpPr txBox="1"/>
          <p:nvPr/>
        </p:nvSpPr>
        <p:spPr>
          <a:xfrm>
            <a:off x="1371600" y="5678424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reply to doctor audio</a:t>
            </a:r>
            <a:endParaRPr lang="en-US" sz="1050" dirty="0"/>
          </a:p>
        </p:txBody>
      </p:sp>
      <p:sp>
        <p:nvSpPr>
          <p:cNvPr id="33" name="Shape 23"/>
          <p:cNvSpPr/>
          <p:nvPr/>
        </p:nvSpPr>
        <p:spPr>
          <a:xfrm>
            <a:off x="4023360" y="5294376"/>
            <a:ext cx="7132320" cy="777240"/>
          </a:xfrm>
          <a:prstGeom prst="roundRect">
            <a:avLst>
              <a:gd name="adj" fmla="val 11765"/>
            </a:avLst>
          </a:prstGeom>
          <a:solidFill>
            <a:srgbClr val="F4F7F7"/>
          </a:solidFill>
          <a:ln/>
        </p:spPr>
      </p:sp>
      <p:sp>
        <p:nvSpPr>
          <p:cNvPr id="34" name="Shape 24"/>
          <p:cNvSpPr/>
          <p:nvPr/>
        </p:nvSpPr>
        <p:spPr>
          <a:xfrm>
            <a:off x="4187952" y="5413248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5" name="Image 8" descr="/home/claude/medassist/icons/fil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08653" y="5533949"/>
            <a:ext cx="261518" cy="261518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4846320" y="5294376"/>
            <a:ext cx="6172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patient transcript (text) · AI medical guidance (text) · audio response (doctor voice)</a:t>
            </a:r>
            <a:endParaRPr lang="en-US" sz="1200" dirty="0"/>
          </a:p>
        </p:txBody>
      </p:sp>
      <p:sp>
        <p:nvSpPr>
          <p:cNvPr id="37" name="Text 2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900" dirty="0"/>
          </a:p>
        </p:txBody>
      </p:sp>
      <p:sp>
        <p:nvSpPr>
          <p:cNvPr id="38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and frameworks behind the assistant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1874520"/>
          </a:xfrm>
          <a:prstGeom prst="roundRect">
            <a:avLst>
              <a:gd name="adj" fmla="val 4878"/>
            </a:avLst>
          </a:prstGeom>
          <a:solidFill>
            <a:srgbClr val="EAF4F4"/>
          </a:solidFill>
          <a:ln/>
        </p:spPr>
      </p:sp>
      <p:sp>
        <p:nvSpPr>
          <p:cNvPr id="5" name="Shape 3"/>
          <p:cNvSpPr/>
          <p:nvPr/>
        </p:nvSpPr>
        <p:spPr>
          <a:xfrm>
            <a:off x="1440180" y="1947672"/>
            <a:ext cx="731520" cy="7315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6" name="Image 0" descr="/home/claude/medassist/icons/flas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745" y="2123237"/>
            <a:ext cx="380390" cy="38039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0896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application language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00400" y="1691640"/>
            <a:ext cx="2514600" cy="1874520"/>
          </a:xfrm>
          <a:prstGeom prst="roundRect">
            <a:avLst>
              <a:gd name="adj" fmla="val 4878"/>
            </a:avLst>
          </a:prstGeom>
          <a:solidFill>
            <a:srgbClr val="EAF4F4"/>
          </a:solidFill>
          <a:ln/>
        </p:spPr>
      </p:sp>
      <p:sp>
        <p:nvSpPr>
          <p:cNvPr id="10" name="Shape 7"/>
          <p:cNvSpPr/>
          <p:nvPr/>
        </p:nvSpPr>
        <p:spPr>
          <a:xfrm>
            <a:off x="4091940" y="1947672"/>
            <a:ext cx="731520" cy="7315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1" name="Image 1" descr="/home/claude/medassist/icons/lin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505" y="2123237"/>
            <a:ext cx="380390" cy="38039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291840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310896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Retrieval-chain orchestration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852160" y="1691640"/>
            <a:ext cx="2514600" cy="1874520"/>
          </a:xfrm>
          <a:prstGeom prst="roundRect">
            <a:avLst>
              <a:gd name="adj" fmla="val 4878"/>
            </a:avLst>
          </a:prstGeom>
          <a:solidFill>
            <a:srgbClr val="EAF4F4"/>
          </a:solidFill>
          <a:ln/>
        </p:spPr>
      </p:sp>
      <p:sp>
        <p:nvSpPr>
          <p:cNvPr id="15" name="Shape 11"/>
          <p:cNvSpPr/>
          <p:nvPr/>
        </p:nvSpPr>
        <p:spPr>
          <a:xfrm>
            <a:off x="6743700" y="1947672"/>
            <a:ext cx="731520" cy="7315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16" name="Image 2" descr="/home/claude/medassist/icons/magic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9265" y="2123237"/>
            <a:ext cx="380390" cy="38039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943600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5989320" y="310896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High-speed LLM inference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503920" y="1691640"/>
            <a:ext cx="2514600" cy="1874520"/>
          </a:xfrm>
          <a:prstGeom prst="roundRect">
            <a:avLst>
              <a:gd name="adj" fmla="val 4878"/>
            </a:avLst>
          </a:prstGeom>
          <a:solidFill>
            <a:srgbClr val="EAF4F4"/>
          </a:solidFill>
          <a:ln/>
        </p:spPr>
      </p:sp>
      <p:sp>
        <p:nvSpPr>
          <p:cNvPr id="20" name="Shape 15"/>
          <p:cNvSpPr/>
          <p:nvPr/>
        </p:nvSpPr>
        <p:spPr>
          <a:xfrm>
            <a:off x="9395460" y="1947672"/>
            <a:ext cx="731520" cy="7315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1" name="Image 3" descr="/home/claude/medassist/icons/databas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1025" y="2123237"/>
            <a:ext cx="380390" cy="38039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595360" y="27432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641080" y="310896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similarity search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3840480"/>
            <a:ext cx="2514600" cy="1874520"/>
          </a:xfrm>
          <a:prstGeom prst="roundRect">
            <a:avLst>
              <a:gd name="adj" fmla="val 4878"/>
            </a:avLst>
          </a:prstGeom>
          <a:solidFill>
            <a:srgbClr val="F4F7F7"/>
          </a:solidFill>
          <a:ln/>
        </p:spPr>
      </p:sp>
      <p:sp>
        <p:nvSpPr>
          <p:cNvPr id="25" name="Shape 19"/>
          <p:cNvSpPr/>
          <p:nvPr/>
        </p:nvSpPr>
        <p:spPr>
          <a:xfrm>
            <a:off x="1440180" y="4096512"/>
            <a:ext cx="731520" cy="7315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26" name="Image 4" descr="/home/claude/medassist/icons/sitemap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5745" y="4272077"/>
            <a:ext cx="380390" cy="38039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40080" y="4892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 Face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685800" y="525780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&amp; model hosting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3200400" y="3840480"/>
            <a:ext cx="2514600" cy="1874520"/>
          </a:xfrm>
          <a:prstGeom prst="roundRect">
            <a:avLst>
              <a:gd name="adj" fmla="val 4878"/>
            </a:avLst>
          </a:prstGeom>
          <a:solidFill>
            <a:srgbClr val="F4F7F7"/>
          </a:solidFill>
          <a:ln/>
        </p:spPr>
      </p:sp>
      <p:sp>
        <p:nvSpPr>
          <p:cNvPr id="30" name="Shape 23"/>
          <p:cNvSpPr/>
          <p:nvPr/>
        </p:nvSpPr>
        <p:spPr>
          <a:xfrm>
            <a:off x="4091940" y="4096512"/>
            <a:ext cx="731520" cy="7315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1" name="Image 5" descr="/home/claude/medassist/icons/layer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505" y="4272077"/>
            <a:ext cx="380390" cy="38039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3291840" y="4892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3337560" y="525780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User-friendly interface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5852160" y="3840480"/>
            <a:ext cx="2514600" cy="1874520"/>
          </a:xfrm>
          <a:prstGeom prst="roundRect">
            <a:avLst>
              <a:gd name="adj" fmla="val 4878"/>
            </a:avLst>
          </a:prstGeom>
          <a:solidFill>
            <a:srgbClr val="F4F7F7"/>
          </a:solidFill>
          <a:ln/>
        </p:spPr>
      </p:sp>
      <p:sp>
        <p:nvSpPr>
          <p:cNvPr id="35" name="Shape 27"/>
          <p:cNvSpPr/>
          <p:nvPr/>
        </p:nvSpPr>
        <p:spPr>
          <a:xfrm>
            <a:off x="6743700" y="4096512"/>
            <a:ext cx="731520" cy="73152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36" name="Image 6" descr="/home/claude/medassist/icons/imag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19265" y="4272077"/>
            <a:ext cx="380390" cy="38039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943600" y="489204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 / Vision APIs</a:t>
            </a:r>
            <a:endParaRPr lang="en-US" sz="1400" dirty="0"/>
          </a:p>
        </p:txBody>
      </p:sp>
      <p:sp>
        <p:nvSpPr>
          <p:cNvPr id="38" name="Text 29"/>
          <p:cNvSpPr txBox="1"/>
          <p:nvPr/>
        </p:nvSpPr>
        <p:spPr>
          <a:xfrm>
            <a:off x="5989320" y="5257800"/>
            <a:ext cx="2240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Speech-to-text, TTS &amp; image analysis</a:t>
            </a:r>
            <a:endParaRPr lang="en-US" sz="1050" dirty="0"/>
          </a:p>
        </p:txBody>
      </p:sp>
      <p:sp>
        <p:nvSpPr>
          <p:cNvPr id="39" name="Text 3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900" dirty="0"/>
          </a:p>
        </p:txBody>
      </p:sp>
      <p:sp>
        <p:nvSpPr>
          <p:cNvPr id="40" name="Text 3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32A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Features &amp; Important Notes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212080" cy="4663440"/>
          </a:xfrm>
          <a:prstGeom prst="roundRect">
            <a:avLst>
              <a:gd name="adj" fmla="val 2353"/>
            </a:avLst>
          </a:prstGeom>
          <a:solidFill>
            <a:srgbClr val="EAF4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1755648"/>
            <a:ext cx="594360" cy="59436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5" name="Image 0" descr="/home/claude/medassist/icons/sta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1326" y="1898294"/>
            <a:ext cx="309067" cy="30906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8470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32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868680" y="2542032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70432" y="2395728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with FAISS for accurate, grounded responses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3136392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170432" y="2990088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input support (image + voice)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8680" y="3730752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170432" y="3584448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Speech-to-text and text-to-speech built in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8680" y="4325112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70432" y="4178808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source display for transparency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68680" y="4919472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170432" y="4773168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workflows for chat vs. multimodal assistant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68680" y="5513832"/>
            <a:ext cx="146304" cy="14630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1170432" y="5367528"/>
            <a:ext cx="4434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User-friendly Gradio interface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5943600" y="1463040"/>
            <a:ext cx="5212080" cy="4663440"/>
          </a:xfrm>
          <a:prstGeom prst="roundRect">
            <a:avLst>
              <a:gd name="adj" fmla="val 2353"/>
            </a:avLst>
          </a:prstGeom>
          <a:solidFill>
            <a:srgbClr val="132A46"/>
          </a:solidFill>
          <a:ln/>
        </p:spPr>
      </p:sp>
      <p:sp>
        <p:nvSpPr>
          <p:cNvPr id="20" name="Shape 17"/>
          <p:cNvSpPr/>
          <p:nvPr/>
        </p:nvSpPr>
        <p:spPr>
          <a:xfrm>
            <a:off x="6263640" y="1755648"/>
            <a:ext cx="594360" cy="594360"/>
          </a:xfrm>
          <a:prstGeom prst="ellipse">
            <a:avLst/>
          </a:prstGeom>
          <a:solidFill>
            <a:srgbClr val="E8604C"/>
          </a:solidFill>
          <a:ln/>
        </p:spPr>
      </p:sp>
      <p:pic>
        <p:nvPicPr>
          <p:cNvPr id="21" name="Image 1" descr="/home/claude/medassist/icons/inf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6286" y="1898294"/>
            <a:ext cx="309067" cy="309067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995160" y="18470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Notes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>
            <a:off x="6263640" y="2542032"/>
            <a:ext cx="146304" cy="146304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565392" y="2395728"/>
            <a:ext cx="4434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dedicated RAG_GROQ_API_KEY, keeping the main GROQ_API_KEY isolated for other modules</a:t>
            </a:r>
            <a:endParaRPr lang="en-US" sz="1250" dirty="0"/>
          </a:p>
        </p:txBody>
      </p:sp>
      <p:sp>
        <p:nvSpPr>
          <p:cNvPr id="25" name="Shape 21"/>
          <p:cNvSpPr/>
          <p:nvPr/>
        </p:nvSpPr>
        <p:spPr>
          <a:xfrm>
            <a:off x="6263640" y="3593592"/>
            <a:ext cx="146304" cy="146304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6565392" y="3447288"/>
            <a:ext cx="4434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medical diagnosis — provides educational information based on the knowledge base only</a:t>
            </a:r>
            <a:endParaRPr lang="en-US" sz="1250" dirty="0"/>
          </a:p>
        </p:txBody>
      </p:sp>
      <p:sp>
        <p:nvSpPr>
          <p:cNvPr id="27" name="Shape 23"/>
          <p:cNvSpPr/>
          <p:nvPr/>
        </p:nvSpPr>
        <p:spPr>
          <a:xfrm>
            <a:off x="6263640" y="4645152"/>
            <a:ext cx="146304" cy="146304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565392" y="4498848"/>
            <a:ext cx="4434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with privacy-conscious principles and clear safety disclaimers throughout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4A5C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A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0A5C5B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754880"/>
            <a:ext cx="3200400" cy="3200400"/>
          </a:xfrm>
          <a:prstGeom prst="ellipse">
            <a:avLst/>
          </a:prstGeom>
          <a:solidFill>
            <a:srgbClr val="4FD1C5"/>
          </a:solidFill>
          <a:ln/>
        </p:spPr>
      </p:sp>
      <p:sp>
        <p:nvSpPr>
          <p:cNvPr id="4" name="Shape 2"/>
          <p:cNvSpPr/>
          <p:nvPr/>
        </p:nvSpPr>
        <p:spPr>
          <a:xfrm>
            <a:off x="5638648" y="2103120"/>
            <a:ext cx="914400" cy="914400"/>
          </a:xfrm>
          <a:prstGeom prst="ellipse">
            <a:avLst/>
          </a:prstGeom>
          <a:solidFill>
            <a:srgbClr val="0E7C7B"/>
          </a:solidFill>
          <a:ln/>
        </p:spPr>
      </p:sp>
      <p:pic>
        <p:nvPicPr>
          <p:cNvPr id="5" name="Image 0" descr="/home/claude/medassist/icons/userm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104" y="2322576"/>
            <a:ext cx="475488" cy="47548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3200400"/>
            <a:ext cx="9418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knowledge. Multimodal input.</a:t>
            </a:r>
            <a:endParaRPr lang="en-US" sz="2400" dirty="0"/>
          </a:p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Human-centered design.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434340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4FD1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Medical Assistant — RAG + LLM · Image + Voice · Text + Audio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1046</Words>
  <Application>Microsoft Office PowerPoint</Application>
  <PresentationFormat>Widescreen</PresentationFormat>
  <Paragraphs>187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Smrithi Pillai</cp:lastModifiedBy>
  <cp:revision>2</cp:revision>
  <dcterms:created xsi:type="dcterms:W3CDTF">2026-09-18T10:23:21Z</dcterms:created>
  <dcterms:modified xsi:type="dcterms:W3CDTF">2026-09-18T14:48:25Z</dcterms:modified>
</cp:coreProperties>
</file>