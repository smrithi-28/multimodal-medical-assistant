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4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A5C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011680"/>
            <a:ext cx="2743200" cy="2743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MEDICAL ASSISTANT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Clinical Chat with Image + Voice Understanding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1613647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251960"/>
            <a:ext cx="1613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65207" y="4251960"/>
            <a:ext cx="2086984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65207" y="4251960"/>
            <a:ext cx="2086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Voice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80791" y="4251960"/>
            <a:ext cx="1968649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0791" y="4251960"/>
            <a:ext cx="1968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Audio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huggingface.co/spaces/Smrithi28/Multimodal_Medical_Assitant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Workflows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complementary ways to interact with the assistant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Medical Chat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retrieval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medical question (e.g. "What is jaundice?")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embedded via Sentence Transformers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34340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finds top-k relevant documents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grounded, sourced answer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1874520"/>
            <a:ext cx="640080" cy="640080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3" name="Image 1" descr="/home/claude/medassist/icons/im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259" y="2028139"/>
            <a:ext cx="332842" cy="33284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voice analysis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63640" y="278892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69340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provides a voice note and/or a medical image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63640" y="356616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26364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69340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transcribes audio; vision-language model reads the image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263640" y="434340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2636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69340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text + image context sent to the LLM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263640" y="512064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263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69340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returned as text and synthesized speech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— General Medical Chat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from a plain-language question to a grounded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6537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514" y="1997050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01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671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jaundice?" — a natural-language medical query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515600" y="1691640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pic>
        <p:nvPicPr>
          <p:cNvPr id="10" name="Image 1" descr="/home/claude/medassist/icons/chevr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15184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80176" y="2569464"/>
            <a:ext cx="292608" cy="292608"/>
          </a:xfrm>
          <a:prstGeom prst="rect">
            <a:avLst>
              <a:gd name="adj" fmla="val 50000"/>
            </a:avLst>
          </a:prstGeom>
          <a:solidFill>
            <a:srgbClr val="0E7C7B"/>
          </a:solidFill>
          <a:ln/>
        </p:spPr>
      </p:sp>
      <p:pic>
        <p:nvPicPr>
          <p:cNvPr id="12" name="Image 2" descr="/home/claude/medassist/icons/chevr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642616"/>
            <a:ext cx="128016" cy="12801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" y="2770632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F4F7F7"/>
          </a:solidFill>
          <a:ln/>
        </p:spPr>
      </p:sp>
      <p:sp>
        <p:nvSpPr>
          <p:cNvPr id="14" name="Shape 9"/>
          <p:cNvSpPr/>
          <p:nvPr/>
        </p:nvSpPr>
        <p:spPr>
          <a:xfrm>
            <a:off x="1005840" y="29443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3" descr="/home/claude/medassist/icons/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14" y="3076042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8308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783080" y="3246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(all-MiniLM-L6-v2) encodes the query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10515600" y="2770632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pic>
        <p:nvPicPr>
          <p:cNvPr id="19" name="Image 4" descr="/home/claude/medassist/icons/chevr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694176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980176" y="3648456"/>
            <a:ext cx="292608" cy="292608"/>
          </a:xfrm>
          <a:prstGeom prst="rect">
            <a:avLst>
              <a:gd name="adj" fmla="val 50000"/>
            </a:avLst>
          </a:prstGeom>
          <a:solidFill>
            <a:srgbClr val="0E7C7B"/>
          </a:solidFill>
          <a:ln/>
        </p:spPr>
      </p:sp>
      <p:pic>
        <p:nvPicPr>
          <p:cNvPr id="21" name="Image 5" descr="/home/claude/medassist/icons/chevr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3721608"/>
            <a:ext cx="128016" cy="12801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22960" y="3849624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EAF4F4"/>
          </a:solidFill>
          <a:ln/>
        </p:spPr>
      </p:sp>
      <p:sp>
        <p:nvSpPr>
          <p:cNvPr id="23" name="Shape 15"/>
          <p:cNvSpPr/>
          <p:nvPr/>
        </p:nvSpPr>
        <p:spPr>
          <a:xfrm>
            <a:off x="1005840" y="40233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6" descr="/home/claude/medassist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514" y="4155034"/>
            <a:ext cx="285293" cy="28529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783080" y="3959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1783080" y="432511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retrieves top-k relevant medical documents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10515600" y="3849624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pic>
        <p:nvPicPr>
          <p:cNvPr id="28" name="Image 7" descr="/home/claude/medassist/icons/chevro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6752" y="4773168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980176" y="4727448"/>
            <a:ext cx="292608" cy="292608"/>
          </a:xfrm>
          <a:prstGeom prst="rect">
            <a:avLst>
              <a:gd name="adj" fmla="val 50000"/>
            </a:avLst>
          </a:prstGeom>
          <a:solidFill>
            <a:srgbClr val="0E7C7B"/>
          </a:solidFill>
          <a:ln/>
        </p:spPr>
      </p:sp>
      <p:pic>
        <p:nvPicPr>
          <p:cNvPr id="30" name="Image 8" descr="/home/claude/medassist/icons/chevro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4800600"/>
            <a:ext cx="128016" cy="12801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822960" y="4928616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F4F7F7"/>
          </a:solidFill>
          <a:ln/>
        </p:spPr>
      </p:sp>
      <p:sp>
        <p:nvSpPr>
          <p:cNvPr id="32" name="Shape 21"/>
          <p:cNvSpPr/>
          <p:nvPr/>
        </p:nvSpPr>
        <p:spPr>
          <a:xfrm>
            <a:off x="1005840" y="510235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3" name="Image 9" descr="/home/claude/medassist/icons/fil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7514" y="5234026"/>
            <a:ext cx="285293" cy="285293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783080" y="50383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</a:t>
            </a:r>
            <a:endParaRPr lang="en-US" sz="1600" dirty="0"/>
          </a:p>
        </p:txBody>
      </p:sp>
      <p:sp>
        <p:nvSpPr>
          <p:cNvPr id="35" name="Text 23"/>
          <p:cNvSpPr txBox="1"/>
          <p:nvPr/>
        </p:nvSpPr>
        <p:spPr>
          <a:xfrm>
            <a:off x="1783080" y="540410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sources returned with metadata (source, page)</a:t>
            </a:r>
            <a:endParaRPr lang="en-US" sz="1250" dirty="0"/>
          </a:p>
        </p:txBody>
      </p:sp>
      <p:sp>
        <p:nvSpPr>
          <p:cNvPr id="36" name="Text 24"/>
          <p:cNvSpPr txBox="1"/>
          <p:nvPr/>
        </p:nvSpPr>
        <p:spPr>
          <a:xfrm>
            <a:off x="10515600" y="4928616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RAG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powers grounded, safe medical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65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84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743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.env with a dedicated RAG_GROQ_API_KEY, separate from the main API key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magi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984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 LLM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43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openai/gpt-oss-20b · temperature 0.5 · max_tokens 512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251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home/claude/medassist/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270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5029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medical guidance with retrieved context and safety instructions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251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home/claude/medassist/icon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270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Chain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5029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create_retrieval_chain combines the retriever with the document chain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after the RAG pipeline completes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1181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retrieved medical knowledge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8039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639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plain-language explanations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4897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325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inline source references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0E7C7B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011680"/>
            <a:ext cx="640080" cy="640080"/>
          </a:xfrm>
          <a:prstGeom prst="ellipse">
            <a:avLst/>
          </a:prstGeom>
          <a:solidFill>
            <a:srgbClr val="0A5C5B"/>
          </a:solidFill>
          <a:ln/>
        </p:spPr>
      </p:sp>
      <p:pic>
        <p:nvPicPr>
          <p:cNvPr id="16" name="Image 1" descr="/home/claude/medassist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259" y="21652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866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Display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63640" y="3118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3796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name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26364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37960" y="3639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page number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263640" y="44897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37960" y="4325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preview of the retrieved content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cards are generated together for every user query, keeping answers transparent and traceable.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— Multimodal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voice + image to a spoken doctor's response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4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1782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Description (Audio)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transcribes the patient's spoken symptoms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1664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im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19" y="181782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 analyzes the image — the "brain of the doctor"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9544" y="2660904"/>
            <a:ext cx="292608" cy="274320"/>
          </a:xfrm>
          <a:prstGeom prst="rect">
            <a:avLst>
              <a:gd name="adj" fmla="val 53333"/>
            </a:avLst>
          </a:prstGeom>
          <a:solidFill>
            <a:srgbClr val="0E7C7B"/>
          </a:solidFill>
          <a:ln/>
        </p:spPr>
      </p:sp>
      <p:pic>
        <p:nvPicPr>
          <p:cNvPr id="15" name="Image 2" descr="/home/claude/medassist/icons/chevr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696" y="2715768"/>
            <a:ext cx="146304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044952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A5C5B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/home/claude/medassist/icons/w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0449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Input:  Patient transcript text + image analysis result, combined into one context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949544" y="3785616"/>
            <a:ext cx="292608" cy="274320"/>
          </a:xfrm>
          <a:prstGeom prst="rect">
            <a:avLst>
              <a:gd name="adj" fmla="val 53333"/>
            </a:avLst>
          </a:prstGeom>
          <a:solidFill>
            <a:srgbClr val="0E7C7B"/>
          </a:solidFill>
          <a:ln/>
        </p:spPr>
      </p:sp>
      <p:pic>
        <p:nvPicPr>
          <p:cNvPr id="21" name="Image 4" descr="/home/claude/medassist/icons/chevr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6" y="3840480"/>
            <a:ext cx="146304" cy="16459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4169664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E8604C"/>
          </a:solidFill>
          <a:ln/>
        </p:spPr>
      </p:sp>
      <p:sp>
        <p:nvSpPr>
          <p:cNvPr id="23" name="Shape 16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C24732"/>
          </a:solidFill>
          <a:ln/>
        </p:spPr>
      </p:sp>
      <p:pic>
        <p:nvPicPr>
          <p:cNvPr id="24" name="Image 5" descr="/home/claude/medassist/icons/robo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3891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371600" y="416966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— generated by the LLM (Groq) from the combined patient context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5949544" y="4910328"/>
            <a:ext cx="292608" cy="274320"/>
          </a:xfrm>
          <a:prstGeom prst="rect">
            <a:avLst>
              <a:gd name="adj" fmla="val 53333"/>
            </a:avLst>
          </a:prstGeom>
          <a:solidFill>
            <a:srgbClr val="0E7C7B"/>
          </a:solidFill>
          <a:ln/>
        </p:spPr>
      </p:sp>
      <p:pic>
        <p:nvPicPr>
          <p:cNvPr id="27" name="Image 6" descr="/home/claude/medassist/icons/chevro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696" y="4965192"/>
            <a:ext cx="146304" cy="16459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48640" y="5294376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132A46"/>
          </a:solidFill>
          <a:ln/>
        </p:spPr>
      </p:sp>
      <p:sp>
        <p:nvSpPr>
          <p:cNvPr id="29" name="Shape 20"/>
          <p:cNvSpPr/>
          <p:nvPr/>
        </p:nvSpPr>
        <p:spPr>
          <a:xfrm>
            <a:off x="713232" y="54132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7" descr="/home/claude/medassist/icons/volum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3" y="5533949"/>
            <a:ext cx="261518" cy="26151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71600" y="5385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1371600" y="56784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reply to doctor audio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023360" y="5294376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4F7F7"/>
          </a:solidFill>
          <a:ln/>
        </p:spPr>
      </p:sp>
      <p:sp>
        <p:nvSpPr>
          <p:cNvPr id="34" name="Shape 24"/>
          <p:cNvSpPr/>
          <p:nvPr/>
        </p:nvSpPr>
        <p:spPr>
          <a:xfrm>
            <a:off x="4187952" y="54132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5" name="Image 8" descr="/home/claude/medassist/icons/fil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8653" y="5533949"/>
            <a:ext cx="261518" cy="26151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4846320" y="5294376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patient transcript (text) · AI medical guidance (text) · audio response (doctor voice)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frameworks behind the assistant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745" y="2123237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409194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5" y="212323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Retrieval-chain orchestration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85216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74370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home/claude/medassist/icons/magi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265" y="212323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LLM inference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50392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20" name="Shape 15"/>
          <p:cNvSpPr/>
          <p:nvPr/>
        </p:nvSpPr>
        <p:spPr>
          <a:xfrm>
            <a:off x="939546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home/claude/medassist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025" y="212323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9536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4108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144018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home/claude/medassist/icons/site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745" y="4272077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model hosting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0040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30" name="Shape 23"/>
          <p:cNvSpPr/>
          <p:nvPr/>
        </p:nvSpPr>
        <p:spPr>
          <a:xfrm>
            <a:off x="409194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/home/claude/medassist/icons/lay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505" y="4272077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29184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33756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85216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35" name="Shape 27"/>
          <p:cNvSpPr/>
          <p:nvPr/>
        </p:nvSpPr>
        <p:spPr>
          <a:xfrm>
            <a:off x="674370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6" name="Image 6" descr="/home/claude/medassist/icons/ima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9265" y="4272077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94360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Vision APIs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98932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TTS &amp; image analysis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Important Notes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55648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898294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254203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70432" y="23957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FAISS for accurate, grounded responses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13639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29900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 support (image + voice)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5844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and text-to-speech built in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32511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70432" y="4178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source display for transparency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91947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70432" y="47731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workflows for chat vs. multimodal assistant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51383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70432" y="53675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Gradio interface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132A46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1755648"/>
            <a:ext cx="594360" cy="5943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1" name="Image 1" descr="/home/claude/medassist/icons/inf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286" y="1898294"/>
            <a:ext cx="309067" cy="30906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263640" y="254203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565392" y="239572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dedicated RAG_GROQ_API_KEY, keeping the main GROQ_API_KEY isolated for other modules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63640" y="359359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565392" y="344728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diagnosis — provides educational information based on the knowledge base only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263640" y="464515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565392" y="449884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privacy-conscious principles and clear safety disclaimers throughout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A5C5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00400" cy="32004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userm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knowledge. Multimodal input.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Human-centered design.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 — RAG + LLM · Image + Voice · Text + Audio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2026-09-18T10:23:21Z</dcterms:created>
  <dcterms:modified xsi:type="dcterms:W3CDTF">2026-09-18T10:23:21Z</dcterms:modified>
</cp:coreProperties>
</file>